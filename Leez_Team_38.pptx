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7" r:id="rId2"/>
    <p:sldId id="268" r:id="rId3"/>
    <p:sldId id="270" r:id="rId4"/>
    <p:sldId id="271" r:id="rId5"/>
    <p:sldId id="272" r:id="rId6"/>
    <p:sldId id="274" r:id="rId7"/>
    <p:sldId id="276" r:id="rId8"/>
    <p:sldId id="273" r:id="rId9"/>
    <p:sldId id="265" r:id="rId10"/>
    <p:sldId id="277" r:id="rId11"/>
    <p:sldId id="278" r:id="rId12"/>
    <p:sldId id="279" r:id="rId13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017" autoAdjust="0"/>
    <p:restoredTop sz="94610"/>
  </p:normalViewPr>
  <p:slideViewPr>
    <p:cSldViewPr snapToGrid="0" snapToObjects="1">
      <p:cViewPr>
        <p:scale>
          <a:sx n="50" d="100"/>
          <a:sy n="50" d="100"/>
        </p:scale>
        <p:origin x="219" y="-20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0006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C1851-129F-7782-2309-653590B15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8F56C5-694D-3671-5960-E5C4FFDE2D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F68C4D-46C1-B059-5A1B-CFE82DCFF5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3FD4A8-24EF-B35A-40B8-18764E2423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58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638B5-8204-E4ED-85A3-DA34A8073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3CA5DD-33E7-8226-82BC-CBC01390A3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5272BC-D8E6-C86E-5AFF-28DC85AEC8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4276A-BA95-389A-F3F1-52FBAC2139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0826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62532-E027-0F50-FF80-B73A0C301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044132-8324-0BFB-2337-B12132C41A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2DB9B2-1C61-C340-2EE1-EC5D9340B1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F62179-9823-0113-A448-D12B41B69C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3876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F1459-337C-CCAA-A4B9-7C685ECCA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39DED8-5583-C79F-320C-C25ED52550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009822-18F9-3C35-D37F-C630B365F8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49915-E3D2-D8B5-96FC-3DBDD64773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4537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3504C-3AEE-8545-CF60-1FD1F874B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5D38ED-C7E4-5493-31ED-27308BC1C3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5DBB1C-2D4A-E859-EDB8-D65B1747E9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DF527-161F-28D5-A286-2CE2E3B666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5935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B535F-3A54-451C-3909-868CFF8D6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FF691A-0F2B-3F47-B79C-EC1B6B8E3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B4F0A6-4703-A3E4-CA95-70DC28A9DA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796884-9C26-D487-3CC5-EA229F67EB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9338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53149-BCBF-598F-228D-7559CCF8C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1A951E-15C5-319B-9501-A6790DC65B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72D15A-6BFB-BA13-E0C3-95001FDCAD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52E864-1141-4F94-7379-2F9D746325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7799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812E2-27F0-9A95-4A56-50432A51D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0A4920-C4FA-1809-AA5D-01EED267B2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B7C894-E560-E539-4E9B-22B48CB2A5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B74C8-6BA5-3638-BA2E-AEF47098CD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7976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5AA5F-E3CC-6EAB-C6D5-9CE290171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4D0892-118A-8DCB-F9DF-31E4AA01FD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50022E-750A-9C98-EA8F-936F471FA1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8F0E57-BE52-3000-9BEB-F1244D209F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0761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D1E79-FBD5-AA3B-7655-3128A9EC2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C5E2C9-F0D9-F74D-10D5-23E520AA7A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7F3A3F-7E30-C967-6AAA-0161CCA96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3A286-0E26-76A8-1574-18B2371A3F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378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71D4D-F085-57ED-621E-DEF5632D3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8C6711-9F9E-3F03-5008-6D29451FC0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596295-3D52-BC91-13AD-C3B4600AE0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1B1B8-D393-53BF-47C1-D19F9939DB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354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9.jpe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9.jpe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jpe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15.png"/><Relationship Id="rId7" Type="http://schemas.openxmlformats.org/officeDocument/2006/relationships/image" Target="../media/image11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11" Type="http://schemas.openxmlformats.org/officeDocument/2006/relationships/image" Target="../media/image8.png"/><Relationship Id="rId5" Type="http://schemas.openxmlformats.org/officeDocument/2006/relationships/image" Target="../media/image17.png"/><Relationship Id="rId10" Type="http://schemas.openxmlformats.org/officeDocument/2006/relationships/image" Target="../media/image13.png"/><Relationship Id="rId4" Type="http://schemas.openxmlformats.org/officeDocument/2006/relationships/image" Target="../media/image16.png"/><Relationship Id="rId9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8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jpeg"/><Relationship Id="rId11" Type="http://schemas.openxmlformats.org/officeDocument/2006/relationships/image" Target="../media/image17.png"/><Relationship Id="rId5" Type="http://schemas.openxmlformats.org/officeDocument/2006/relationships/image" Target="../media/image12.svg"/><Relationship Id="rId10" Type="http://schemas.openxmlformats.org/officeDocument/2006/relationships/image" Target="../media/image16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11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11" Type="http://schemas.openxmlformats.org/officeDocument/2006/relationships/image" Target="../media/image8.png"/><Relationship Id="rId5" Type="http://schemas.openxmlformats.org/officeDocument/2006/relationships/image" Target="../media/image17.png"/><Relationship Id="rId10" Type="http://schemas.openxmlformats.org/officeDocument/2006/relationships/image" Target="../media/image13.png"/><Relationship Id="rId4" Type="http://schemas.openxmlformats.org/officeDocument/2006/relationships/image" Target="../media/image16.png"/><Relationship Id="rId9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970DB-ED93-9643-EFA3-C9491A969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A9D120B-796A-B63F-128E-D96FE099E77F}"/>
              </a:ext>
            </a:extLst>
          </p:cNvPr>
          <p:cNvSpPr/>
          <p:nvPr/>
        </p:nvSpPr>
        <p:spPr>
          <a:xfrm>
            <a:off x="12743411" y="7689273"/>
            <a:ext cx="1828800" cy="473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E0D0A9-64B2-4BF5-6135-147D930FE252}"/>
              </a:ext>
            </a:extLst>
          </p:cNvPr>
          <p:cNvSpPr txBox="1"/>
          <p:nvPr/>
        </p:nvSpPr>
        <p:spPr>
          <a:xfrm>
            <a:off x="4276226" y="3514636"/>
            <a:ext cx="6077948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7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DIGITAL ERA</a:t>
            </a:r>
          </a:p>
        </p:txBody>
      </p:sp>
    </p:spTree>
    <p:extLst>
      <p:ext uri="{BB962C8B-B14F-4D97-AF65-F5344CB8AC3E}">
        <p14:creationId xmlns:p14="http://schemas.microsoft.com/office/powerpoint/2010/main" val="2603471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E801B-2474-CC27-29F7-39BAC047A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4CFDCE-3B9A-DA28-F18E-FDF535995087}"/>
              </a:ext>
            </a:extLst>
          </p:cNvPr>
          <p:cNvSpPr txBox="1"/>
          <p:nvPr/>
        </p:nvSpPr>
        <p:spPr>
          <a:xfrm>
            <a:off x="4236194" y="8666886"/>
            <a:ext cx="7321771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7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Problem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9C50A0-0E4B-CFC7-79B1-9F773B996C1F}"/>
              </a:ext>
            </a:extLst>
          </p:cNvPr>
          <p:cNvSpPr/>
          <p:nvPr/>
        </p:nvSpPr>
        <p:spPr>
          <a:xfrm>
            <a:off x="12743411" y="7689273"/>
            <a:ext cx="1828800" cy="473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64A9DF-2F01-4526-EEF5-91A7941073EA}"/>
              </a:ext>
            </a:extLst>
          </p:cNvPr>
          <p:cNvSpPr txBox="1"/>
          <p:nvPr/>
        </p:nvSpPr>
        <p:spPr>
          <a:xfrm>
            <a:off x="4276226" y="1224101"/>
            <a:ext cx="60779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200" b="1" dirty="0">
                <a:latin typeface="Poppins" panose="00000500000000000000" pitchFamily="2" charset="0"/>
                <a:cs typeface="Poppins" panose="00000500000000000000" pitchFamily="2" charset="0"/>
              </a:rPr>
              <a:t>DIGITAL ERA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A78F59D-3537-7B31-5E3C-80B78A14F5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0209" y="5789880"/>
            <a:ext cx="1735116" cy="173511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A3100EF-71FB-F130-8F60-28DC4E6FA3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6804" y="3120828"/>
            <a:ext cx="1736791" cy="173679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80ED5D3-A1D4-7AA1-DFA8-477CD183D4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6725" y="3243855"/>
            <a:ext cx="1613764" cy="161376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43C4FF9-5FC3-419E-722A-F0428828E1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6725" y="5766332"/>
            <a:ext cx="1645920" cy="16459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EFFE438-28D0-1BE8-DD68-A71A823A26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6762" y="5991611"/>
            <a:ext cx="2254141" cy="12003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20DC30-9E04-187F-A382-EA1FD5FF04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58182" y="3201770"/>
            <a:ext cx="1618841" cy="1618841"/>
          </a:xfrm>
          <a:prstGeom prst="roundRect">
            <a:avLst>
              <a:gd name="adj" fmla="val 20402"/>
            </a:avLst>
          </a:prstGeom>
        </p:spPr>
      </p:pic>
    </p:spTree>
    <p:extLst>
      <p:ext uri="{BB962C8B-B14F-4D97-AF65-F5344CB8AC3E}">
        <p14:creationId xmlns:p14="http://schemas.microsoft.com/office/powerpoint/2010/main" val="9900039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F19FC-60C5-2982-4ADE-20A7C51DC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209B0A2-8D8A-D17F-784F-44A7B696051D}"/>
              </a:ext>
            </a:extLst>
          </p:cNvPr>
          <p:cNvSpPr/>
          <p:nvPr/>
        </p:nvSpPr>
        <p:spPr>
          <a:xfrm>
            <a:off x="12743411" y="7689273"/>
            <a:ext cx="1828800" cy="473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30B1133-6AAC-AB45-8BA5-A58C83BD239B}"/>
              </a:ext>
            </a:extLst>
          </p:cNvPr>
          <p:cNvSpPr txBox="1"/>
          <p:nvPr/>
        </p:nvSpPr>
        <p:spPr>
          <a:xfrm>
            <a:off x="4136453" y="435914"/>
            <a:ext cx="63574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200" b="1" dirty="0">
                <a:latin typeface="Poppins" panose="00000500000000000000" pitchFamily="2" charset="0"/>
                <a:cs typeface="Poppins" panose="00000500000000000000" pitchFamily="2" charset="0"/>
              </a:rPr>
              <a:t>The Problem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C38F1E-915A-B182-3166-0014DC03FE12}"/>
              </a:ext>
            </a:extLst>
          </p:cNvPr>
          <p:cNvSpPr txBox="1"/>
          <p:nvPr/>
        </p:nvSpPr>
        <p:spPr>
          <a:xfrm>
            <a:off x="4375976" y="-8684689"/>
            <a:ext cx="60779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200" b="1" dirty="0">
                <a:latin typeface="Poppins" panose="00000500000000000000" pitchFamily="2" charset="0"/>
                <a:cs typeface="Poppins" panose="00000500000000000000" pitchFamily="2" charset="0"/>
              </a:rPr>
              <a:t>DIGITAL ERA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69AC30C-7C7D-DF41-CB45-B58F13FF9B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709" y="-4118910"/>
            <a:ext cx="1735116" cy="173511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EF13CE4-A3B4-D53D-8232-FB1CD9D838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0304" y="-6787962"/>
            <a:ext cx="1736791" cy="173679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3191974-092B-BA86-0D21-970F1FA970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0225" y="-6664935"/>
            <a:ext cx="1613764" cy="161376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EC051CE-770A-747D-659D-C7CED7CE83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0225" y="-4142458"/>
            <a:ext cx="1645920" cy="16459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854D6EB-A3AF-DA15-64F9-B12149732E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0262" y="-3917179"/>
            <a:ext cx="2254141" cy="120033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5C869F0-08DD-2917-2523-C775BBFBE1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91682" y="-6707020"/>
            <a:ext cx="1618841" cy="1618841"/>
          </a:xfrm>
          <a:prstGeom prst="roundRect">
            <a:avLst>
              <a:gd name="adj" fmla="val 20402"/>
            </a:avLst>
          </a:prstGeom>
        </p:spPr>
      </p:pic>
      <p:sp>
        <p:nvSpPr>
          <p:cNvPr id="26" name="Text 1">
            <a:extLst>
              <a:ext uri="{FF2B5EF4-FFF2-40B4-BE49-F238E27FC236}">
                <a16:creationId xmlns:a16="http://schemas.microsoft.com/office/drawing/2014/main" id="{7D397EA1-AC9B-B6D3-1F5D-1403D9D394C3}"/>
              </a:ext>
            </a:extLst>
          </p:cNvPr>
          <p:cNvSpPr/>
          <p:nvPr/>
        </p:nvSpPr>
        <p:spPr>
          <a:xfrm>
            <a:off x="1575177" y="3372451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Struggle to find rental </a:t>
            </a:r>
          </a:p>
          <a:p>
            <a:pPr>
              <a:lnSpc>
                <a:spcPts val="2750"/>
              </a:lnSpc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     services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C739BB-6193-9AAF-C639-2DA4921C41ED}"/>
              </a:ext>
            </a:extLst>
          </p:cNvPr>
          <p:cNvSpPr txBox="1"/>
          <p:nvPr/>
        </p:nvSpPr>
        <p:spPr>
          <a:xfrm>
            <a:off x="1575177" y="2121395"/>
            <a:ext cx="21731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latin typeface="Poppins" panose="00000500000000000000" pitchFamily="2" charset="0"/>
                <a:cs typeface="Poppins" panose="00000500000000000000" pitchFamily="2" charset="0"/>
              </a:rPr>
              <a:t>Users</a:t>
            </a:r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2005279C-C062-B660-10AC-77DAE37635EC}"/>
              </a:ext>
            </a:extLst>
          </p:cNvPr>
          <p:cNvSpPr/>
          <p:nvPr/>
        </p:nvSpPr>
        <p:spPr>
          <a:xfrm>
            <a:off x="1575176" y="4552438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Limited Rental Choices</a:t>
            </a:r>
          </a:p>
        </p:txBody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D636EEC1-5CEF-921C-E503-30B411614EFE}"/>
              </a:ext>
            </a:extLst>
          </p:cNvPr>
          <p:cNvSpPr/>
          <p:nvPr/>
        </p:nvSpPr>
        <p:spPr>
          <a:xfrm>
            <a:off x="1575175" y="5483050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39E77D5F-5D30-E85C-EBE3-9DB730AC7C65}"/>
              </a:ext>
            </a:extLst>
          </p:cNvPr>
          <p:cNvSpPr/>
          <p:nvPr/>
        </p:nvSpPr>
        <p:spPr>
          <a:xfrm>
            <a:off x="1575177" y="5436234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Time Consuming</a:t>
            </a:r>
          </a:p>
        </p:txBody>
      </p:sp>
      <p:sp>
        <p:nvSpPr>
          <p:cNvPr id="32" name="Text 1">
            <a:extLst>
              <a:ext uri="{FF2B5EF4-FFF2-40B4-BE49-F238E27FC236}">
                <a16:creationId xmlns:a16="http://schemas.microsoft.com/office/drawing/2014/main" id="{899820B9-98D6-EAFE-DCF0-010307A8CF67}"/>
              </a:ext>
            </a:extLst>
          </p:cNvPr>
          <p:cNvSpPr/>
          <p:nvPr/>
        </p:nvSpPr>
        <p:spPr>
          <a:xfrm>
            <a:off x="1575178" y="6320030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Trust and Safety Issues</a:t>
            </a:r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F911236E-9AAA-75A9-3BDE-877BCCE954ED}"/>
              </a:ext>
            </a:extLst>
          </p:cNvPr>
          <p:cNvSpPr/>
          <p:nvPr/>
        </p:nvSpPr>
        <p:spPr>
          <a:xfrm>
            <a:off x="8261388" y="3352550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Low Visibility &amp; Lack </a:t>
            </a:r>
          </a:p>
          <a:p>
            <a:pPr>
              <a:lnSpc>
                <a:spcPts val="2750"/>
              </a:lnSpc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     of Customers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BBB1418-1650-4AE0-6A97-F713F1EC94D1}"/>
              </a:ext>
            </a:extLst>
          </p:cNvPr>
          <p:cNvSpPr txBox="1"/>
          <p:nvPr/>
        </p:nvSpPr>
        <p:spPr>
          <a:xfrm>
            <a:off x="8760155" y="2124169"/>
            <a:ext cx="26615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latin typeface="Poppins" panose="00000500000000000000" pitchFamily="2" charset="0"/>
                <a:cs typeface="Poppins" panose="00000500000000000000" pitchFamily="2" charset="0"/>
              </a:rPr>
              <a:t>Vendors</a:t>
            </a:r>
          </a:p>
        </p:txBody>
      </p:sp>
      <p:sp>
        <p:nvSpPr>
          <p:cNvPr id="36" name="Text 1">
            <a:extLst>
              <a:ext uri="{FF2B5EF4-FFF2-40B4-BE49-F238E27FC236}">
                <a16:creationId xmlns:a16="http://schemas.microsoft.com/office/drawing/2014/main" id="{2AE923A8-543C-DB21-E8B0-A1109AD6F302}"/>
              </a:ext>
            </a:extLst>
          </p:cNvPr>
          <p:cNvSpPr/>
          <p:nvPr/>
        </p:nvSpPr>
        <p:spPr>
          <a:xfrm>
            <a:off x="8128393" y="5070191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7" name="Text 1">
            <a:extLst>
              <a:ext uri="{FF2B5EF4-FFF2-40B4-BE49-F238E27FC236}">
                <a16:creationId xmlns:a16="http://schemas.microsoft.com/office/drawing/2014/main" id="{47975F82-F8AF-6875-EA37-C04D8DA92D04}"/>
              </a:ext>
            </a:extLst>
          </p:cNvPr>
          <p:cNvSpPr/>
          <p:nvPr/>
        </p:nvSpPr>
        <p:spPr>
          <a:xfrm>
            <a:off x="8309879" y="6430139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High Marketing Cost</a:t>
            </a:r>
          </a:p>
        </p:txBody>
      </p:sp>
      <p:sp>
        <p:nvSpPr>
          <p:cNvPr id="38" name="Text 1">
            <a:extLst>
              <a:ext uri="{FF2B5EF4-FFF2-40B4-BE49-F238E27FC236}">
                <a16:creationId xmlns:a16="http://schemas.microsoft.com/office/drawing/2014/main" id="{49B02FD8-6669-288F-4B56-344711C659CF}"/>
              </a:ext>
            </a:extLst>
          </p:cNvPr>
          <p:cNvSpPr/>
          <p:nvPr/>
        </p:nvSpPr>
        <p:spPr>
          <a:xfrm>
            <a:off x="8350058" y="4312333"/>
            <a:ext cx="5307753" cy="644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Unclear Demand &amp; </a:t>
            </a:r>
          </a:p>
          <a:p>
            <a:pPr>
              <a:lnSpc>
                <a:spcPts val="2750"/>
              </a:lnSpc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     Pricing Strategy</a:t>
            </a:r>
          </a:p>
        </p:txBody>
      </p:sp>
      <p:sp>
        <p:nvSpPr>
          <p:cNvPr id="39" name="Text 1">
            <a:extLst>
              <a:ext uri="{FF2B5EF4-FFF2-40B4-BE49-F238E27FC236}">
                <a16:creationId xmlns:a16="http://schemas.microsoft.com/office/drawing/2014/main" id="{8AC8A7FD-A89C-1382-221B-15BC8477E077}"/>
              </a:ext>
            </a:extLst>
          </p:cNvPr>
          <p:cNvSpPr/>
          <p:nvPr/>
        </p:nvSpPr>
        <p:spPr>
          <a:xfrm>
            <a:off x="8261388" y="5499527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Lack of Trustable Customer</a:t>
            </a:r>
          </a:p>
          <a:p>
            <a:pPr>
              <a:lnSpc>
                <a:spcPts val="2750"/>
              </a:lnSpc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     Details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F1FE9FE-7991-4669-9F2C-58836E68FFB6}"/>
              </a:ext>
            </a:extLst>
          </p:cNvPr>
          <p:cNvSpPr txBox="1"/>
          <p:nvPr/>
        </p:nvSpPr>
        <p:spPr>
          <a:xfrm>
            <a:off x="6117343" y="9129025"/>
            <a:ext cx="26949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0" b="1" spc="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LEEZ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A50EDCC8-4E38-CFF3-4AED-8A294D92CF70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5000"/>
          </a:blip>
          <a:srcRect l="3253" r="3253"/>
          <a:stretch/>
        </p:blipFill>
        <p:spPr>
          <a:xfrm>
            <a:off x="5087389" y="12651983"/>
            <a:ext cx="4754879" cy="9889350"/>
          </a:xfrm>
          <a:prstGeom prst="roundRect">
            <a:avLst>
              <a:gd name="adj" fmla="val 19024"/>
            </a:avLst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F3B01BDB-0E6D-6B3C-2A37-E1F8801E480D}"/>
              </a:ext>
            </a:extLst>
          </p:cNvPr>
          <p:cNvSpPr txBox="1"/>
          <p:nvPr/>
        </p:nvSpPr>
        <p:spPr>
          <a:xfrm>
            <a:off x="6117343" y="10138201"/>
            <a:ext cx="26949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One stop</a:t>
            </a:r>
            <a:r>
              <a:rPr lang="en-GB" sz="1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Rental Marketplace</a:t>
            </a:r>
          </a:p>
        </p:txBody>
      </p:sp>
    </p:spTree>
    <p:extLst>
      <p:ext uri="{BB962C8B-B14F-4D97-AF65-F5344CB8AC3E}">
        <p14:creationId xmlns:p14="http://schemas.microsoft.com/office/powerpoint/2010/main" val="30124723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/>
      <p:bldP spid="29" grpId="0" animBg="1"/>
      <p:bldP spid="31" grpId="0" animBg="1"/>
      <p:bldP spid="32" grpId="0" animBg="1"/>
      <p:bldP spid="33" grpId="0" animBg="1"/>
      <p:bldP spid="34" grpId="0"/>
      <p:bldP spid="37" grpId="0" animBg="1"/>
      <p:bldP spid="38" grpId="0" animBg="1"/>
      <p:bldP spid="3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15816-FF96-6C7A-6CFD-0206B929A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4AD2D37F-266D-2EEC-D72E-D0B32172D6A0}"/>
              </a:ext>
            </a:extLst>
          </p:cNvPr>
          <p:cNvSpPr/>
          <p:nvPr/>
        </p:nvSpPr>
        <p:spPr>
          <a:xfrm>
            <a:off x="1219200" y="326571"/>
            <a:ext cx="4113728" cy="736270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03835B-5773-2D10-7F42-005ADA4940D2}"/>
              </a:ext>
            </a:extLst>
          </p:cNvPr>
          <p:cNvSpPr/>
          <p:nvPr/>
        </p:nvSpPr>
        <p:spPr>
          <a:xfrm>
            <a:off x="12743411" y="7689273"/>
            <a:ext cx="1828800" cy="473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2497D7-0BD1-19A3-A576-E85E62C055AD}"/>
              </a:ext>
            </a:extLst>
          </p:cNvPr>
          <p:cNvSpPr txBox="1"/>
          <p:nvPr/>
        </p:nvSpPr>
        <p:spPr>
          <a:xfrm>
            <a:off x="6117343" y="550275"/>
            <a:ext cx="26949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0" b="1" spc="600" dirty="0">
                <a:latin typeface="Poppins" panose="00000500000000000000" pitchFamily="2" charset="0"/>
                <a:cs typeface="Poppins" panose="00000500000000000000" pitchFamily="2" charset="0"/>
              </a:rPr>
              <a:t>LEEZ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F207CE74-3135-EC2C-41CF-C6556BEE80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53" r="3253"/>
          <a:stretch/>
        </p:blipFill>
        <p:spPr>
          <a:xfrm>
            <a:off x="5087389" y="2194560"/>
            <a:ext cx="4754879" cy="9889350"/>
          </a:xfrm>
          <a:prstGeom prst="roundRect">
            <a:avLst>
              <a:gd name="adj" fmla="val 19024"/>
            </a:avLst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D898A98E-A38A-116C-54A5-0CBCBEA22968}"/>
              </a:ext>
            </a:extLst>
          </p:cNvPr>
          <p:cNvSpPr txBox="1"/>
          <p:nvPr/>
        </p:nvSpPr>
        <p:spPr>
          <a:xfrm>
            <a:off x="6117343" y="1559451"/>
            <a:ext cx="26949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Poppins" panose="00000500000000000000" pitchFamily="2" charset="0"/>
                <a:cs typeface="Poppins" panose="00000500000000000000" pitchFamily="2" charset="0"/>
              </a:rPr>
              <a:t>One stop</a:t>
            </a:r>
            <a:r>
              <a:rPr lang="en-GB" sz="1400" dirty="0">
                <a:latin typeface="Poppins" panose="00000500000000000000" pitchFamily="2" charset="0"/>
                <a:cs typeface="Poppins" panose="00000500000000000000" pitchFamily="2" charset="0"/>
              </a:rPr>
              <a:t> Rental Marketplace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1F9707E-9D41-2AED-0B24-A49DB53EEDE5}"/>
              </a:ext>
            </a:extLst>
          </p:cNvPr>
          <p:cNvSpPr txBox="1"/>
          <p:nvPr/>
        </p:nvSpPr>
        <p:spPr>
          <a:xfrm>
            <a:off x="4136453" y="-8974111"/>
            <a:ext cx="63574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200" b="1" dirty="0">
                <a:latin typeface="Poppins" panose="00000500000000000000" pitchFamily="2" charset="0"/>
                <a:cs typeface="Poppins" panose="00000500000000000000" pitchFamily="2" charset="0"/>
              </a:rPr>
              <a:t>The Problem</a:t>
            </a:r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FCB6D7BD-4D46-9FEE-7BA6-D3B4C26A8187}"/>
              </a:ext>
            </a:extLst>
          </p:cNvPr>
          <p:cNvSpPr/>
          <p:nvPr/>
        </p:nvSpPr>
        <p:spPr>
          <a:xfrm>
            <a:off x="1575177" y="-6037574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Struggle to find rental </a:t>
            </a:r>
          </a:p>
          <a:p>
            <a:pPr>
              <a:lnSpc>
                <a:spcPts val="2750"/>
              </a:lnSpc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     services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04C2212-79E9-854E-8B91-35E271B0E58A}"/>
              </a:ext>
            </a:extLst>
          </p:cNvPr>
          <p:cNvSpPr txBox="1"/>
          <p:nvPr/>
        </p:nvSpPr>
        <p:spPr>
          <a:xfrm>
            <a:off x="1575177" y="-7288630"/>
            <a:ext cx="21731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latin typeface="Poppins" panose="00000500000000000000" pitchFamily="2" charset="0"/>
                <a:cs typeface="Poppins" panose="00000500000000000000" pitchFamily="2" charset="0"/>
              </a:rPr>
              <a:t>Users</a:t>
            </a:r>
          </a:p>
        </p:txBody>
      </p:sp>
      <p:sp>
        <p:nvSpPr>
          <p:cNvPr id="52" name="Text 1">
            <a:extLst>
              <a:ext uri="{FF2B5EF4-FFF2-40B4-BE49-F238E27FC236}">
                <a16:creationId xmlns:a16="http://schemas.microsoft.com/office/drawing/2014/main" id="{6F297C78-0682-1E93-C53F-43A89DA4A15F}"/>
              </a:ext>
            </a:extLst>
          </p:cNvPr>
          <p:cNvSpPr/>
          <p:nvPr/>
        </p:nvSpPr>
        <p:spPr>
          <a:xfrm>
            <a:off x="1575176" y="-4857587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Limited Rental Choices</a:t>
            </a:r>
          </a:p>
        </p:txBody>
      </p:sp>
      <p:sp>
        <p:nvSpPr>
          <p:cNvPr id="53" name="Text 1">
            <a:extLst>
              <a:ext uri="{FF2B5EF4-FFF2-40B4-BE49-F238E27FC236}">
                <a16:creationId xmlns:a16="http://schemas.microsoft.com/office/drawing/2014/main" id="{7D5ABEF7-F5CA-E960-BF02-5F8D9EC52AEA}"/>
              </a:ext>
            </a:extLst>
          </p:cNvPr>
          <p:cNvSpPr/>
          <p:nvPr/>
        </p:nvSpPr>
        <p:spPr>
          <a:xfrm>
            <a:off x="1575175" y="-3926975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4" name="Text 1">
            <a:extLst>
              <a:ext uri="{FF2B5EF4-FFF2-40B4-BE49-F238E27FC236}">
                <a16:creationId xmlns:a16="http://schemas.microsoft.com/office/drawing/2014/main" id="{8EE000D7-5C7D-3932-F04B-F60C322DDDB0}"/>
              </a:ext>
            </a:extLst>
          </p:cNvPr>
          <p:cNvSpPr/>
          <p:nvPr/>
        </p:nvSpPr>
        <p:spPr>
          <a:xfrm>
            <a:off x="1575177" y="-3973791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Time Consuming</a:t>
            </a:r>
          </a:p>
        </p:txBody>
      </p:sp>
      <p:sp>
        <p:nvSpPr>
          <p:cNvPr id="55" name="Text 1">
            <a:extLst>
              <a:ext uri="{FF2B5EF4-FFF2-40B4-BE49-F238E27FC236}">
                <a16:creationId xmlns:a16="http://schemas.microsoft.com/office/drawing/2014/main" id="{AE4968DC-74D7-62D7-0AAA-E5B489D5A735}"/>
              </a:ext>
            </a:extLst>
          </p:cNvPr>
          <p:cNvSpPr/>
          <p:nvPr/>
        </p:nvSpPr>
        <p:spPr>
          <a:xfrm>
            <a:off x="1575178" y="-3089995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Trust and Safety Issues</a:t>
            </a:r>
          </a:p>
        </p:txBody>
      </p:sp>
      <p:sp>
        <p:nvSpPr>
          <p:cNvPr id="56" name="Text 1">
            <a:extLst>
              <a:ext uri="{FF2B5EF4-FFF2-40B4-BE49-F238E27FC236}">
                <a16:creationId xmlns:a16="http://schemas.microsoft.com/office/drawing/2014/main" id="{C4DD8329-1993-8965-3B32-E4E35BF2B6F3}"/>
              </a:ext>
            </a:extLst>
          </p:cNvPr>
          <p:cNvSpPr/>
          <p:nvPr/>
        </p:nvSpPr>
        <p:spPr>
          <a:xfrm>
            <a:off x="8261388" y="-6057475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Low Visibility &amp; Lack </a:t>
            </a:r>
          </a:p>
          <a:p>
            <a:pPr>
              <a:lnSpc>
                <a:spcPts val="2750"/>
              </a:lnSpc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     of Customers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61E5641-9427-D008-3737-096F26FCA69D}"/>
              </a:ext>
            </a:extLst>
          </p:cNvPr>
          <p:cNvSpPr txBox="1"/>
          <p:nvPr/>
        </p:nvSpPr>
        <p:spPr>
          <a:xfrm>
            <a:off x="8760155" y="-7285856"/>
            <a:ext cx="26615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latin typeface="Poppins" panose="00000500000000000000" pitchFamily="2" charset="0"/>
                <a:cs typeface="Poppins" panose="00000500000000000000" pitchFamily="2" charset="0"/>
              </a:rPr>
              <a:t>Vendors</a:t>
            </a:r>
          </a:p>
        </p:txBody>
      </p:sp>
      <p:sp>
        <p:nvSpPr>
          <p:cNvPr id="58" name="Text 1">
            <a:extLst>
              <a:ext uri="{FF2B5EF4-FFF2-40B4-BE49-F238E27FC236}">
                <a16:creationId xmlns:a16="http://schemas.microsoft.com/office/drawing/2014/main" id="{97300229-E608-20A1-0762-0FE962D3BB4E}"/>
              </a:ext>
            </a:extLst>
          </p:cNvPr>
          <p:cNvSpPr/>
          <p:nvPr/>
        </p:nvSpPr>
        <p:spPr>
          <a:xfrm>
            <a:off x="8128394" y="-5270446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9" name="Text 1">
            <a:extLst>
              <a:ext uri="{FF2B5EF4-FFF2-40B4-BE49-F238E27FC236}">
                <a16:creationId xmlns:a16="http://schemas.microsoft.com/office/drawing/2014/main" id="{791ABA74-A2DA-8BAF-7520-5C8AC6B43EC1}"/>
              </a:ext>
            </a:extLst>
          </p:cNvPr>
          <p:cNvSpPr/>
          <p:nvPr/>
        </p:nvSpPr>
        <p:spPr>
          <a:xfrm>
            <a:off x="8128393" y="-4339834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0" name="Text 1">
            <a:extLst>
              <a:ext uri="{FF2B5EF4-FFF2-40B4-BE49-F238E27FC236}">
                <a16:creationId xmlns:a16="http://schemas.microsoft.com/office/drawing/2014/main" id="{31BA354B-7C00-9E95-5A22-66745C28D250}"/>
              </a:ext>
            </a:extLst>
          </p:cNvPr>
          <p:cNvSpPr/>
          <p:nvPr/>
        </p:nvSpPr>
        <p:spPr>
          <a:xfrm>
            <a:off x="8309879" y="-2979886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High Marketing Cost</a:t>
            </a:r>
          </a:p>
        </p:txBody>
      </p:sp>
      <p:sp>
        <p:nvSpPr>
          <p:cNvPr id="61" name="Text 1">
            <a:extLst>
              <a:ext uri="{FF2B5EF4-FFF2-40B4-BE49-F238E27FC236}">
                <a16:creationId xmlns:a16="http://schemas.microsoft.com/office/drawing/2014/main" id="{27AE4D2D-FCD8-2634-81FF-7CE5B889323D}"/>
              </a:ext>
            </a:extLst>
          </p:cNvPr>
          <p:cNvSpPr/>
          <p:nvPr/>
        </p:nvSpPr>
        <p:spPr>
          <a:xfrm>
            <a:off x="8350058" y="-5097692"/>
            <a:ext cx="5307753" cy="644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Unclear Demand &amp; </a:t>
            </a:r>
          </a:p>
          <a:p>
            <a:pPr>
              <a:lnSpc>
                <a:spcPts val="2750"/>
              </a:lnSpc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     Pricing Strategy</a:t>
            </a:r>
          </a:p>
        </p:txBody>
      </p:sp>
      <p:sp>
        <p:nvSpPr>
          <p:cNvPr id="62" name="Text 1">
            <a:extLst>
              <a:ext uri="{FF2B5EF4-FFF2-40B4-BE49-F238E27FC236}">
                <a16:creationId xmlns:a16="http://schemas.microsoft.com/office/drawing/2014/main" id="{672EFD56-F00E-FE2C-5E2D-435B12CF4390}"/>
              </a:ext>
            </a:extLst>
          </p:cNvPr>
          <p:cNvSpPr/>
          <p:nvPr/>
        </p:nvSpPr>
        <p:spPr>
          <a:xfrm>
            <a:off x="8261388" y="-3910498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Lack of Trustable Customer</a:t>
            </a:r>
          </a:p>
          <a:p>
            <a:pPr>
              <a:lnSpc>
                <a:spcPts val="2750"/>
              </a:lnSpc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     Details</a:t>
            </a:r>
          </a:p>
        </p:txBody>
      </p:sp>
    </p:spTree>
    <p:extLst>
      <p:ext uri="{BB962C8B-B14F-4D97-AF65-F5344CB8AC3E}">
        <p14:creationId xmlns:p14="http://schemas.microsoft.com/office/powerpoint/2010/main" val="3817236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A9B35-8D90-4A60-2061-6E4D470CA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4E7ED02-61C2-6106-314F-22DEA79039FF}"/>
              </a:ext>
            </a:extLst>
          </p:cNvPr>
          <p:cNvSpPr/>
          <p:nvPr/>
        </p:nvSpPr>
        <p:spPr>
          <a:xfrm>
            <a:off x="1219200" y="326571"/>
            <a:ext cx="4113728" cy="736270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770734-730F-81E5-84EA-AE5267C5A066}"/>
              </a:ext>
            </a:extLst>
          </p:cNvPr>
          <p:cNvSpPr/>
          <p:nvPr/>
        </p:nvSpPr>
        <p:spPr>
          <a:xfrm>
            <a:off x="12743411" y="7689273"/>
            <a:ext cx="1828800" cy="473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2C6EE9-DAC3-CC8E-44F6-53C1D0D39A40}"/>
              </a:ext>
            </a:extLst>
          </p:cNvPr>
          <p:cNvSpPr txBox="1"/>
          <p:nvPr/>
        </p:nvSpPr>
        <p:spPr>
          <a:xfrm>
            <a:off x="10805749" y="628527"/>
            <a:ext cx="26949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spc="600" dirty="0">
                <a:latin typeface="Poppins" panose="00000500000000000000" pitchFamily="2" charset="0"/>
                <a:cs typeface="Poppins" panose="00000500000000000000" pitchFamily="2" charset="0"/>
              </a:rPr>
              <a:t>LEEZ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94F8D707-8FE3-BAC5-3299-C6881DE9C2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53" r="3253"/>
          <a:stretch/>
        </p:blipFill>
        <p:spPr>
          <a:xfrm>
            <a:off x="10161296" y="1498221"/>
            <a:ext cx="3015893" cy="6272551"/>
          </a:xfrm>
          <a:prstGeom prst="roundRect">
            <a:avLst>
              <a:gd name="adj" fmla="val 19024"/>
            </a:avLst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2D49B21E-88DA-6B24-2AB3-D9219E089390}"/>
              </a:ext>
            </a:extLst>
          </p:cNvPr>
          <p:cNvSpPr txBox="1"/>
          <p:nvPr/>
        </p:nvSpPr>
        <p:spPr>
          <a:xfrm>
            <a:off x="10805749" y="1264665"/>
            <a:ext cx="22327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latin typeface="Poppins" panose="00000500000000000000" pitchFamily="2" charset="0"/>
                <a:cs typeface="Poppins" panose="00000500000000000000" pitchFamily="2" charset="0"/>
              </a:rPr>
              <a:t>One stop</a:t>
            </a:r>
            <a:r>
              <a:rPr lang="en-GB" sz="900" dirty="0">
                <a:latin typeface="Poppins" panose="00000500000000000000" pitchFamily="2" charset="0"/>
                <a:cs typeface="Poppins" panose="00000500000000000000" pitchFamily="2" charset="0"/>
              </a:rPr>
              <a:t> Rental Marketplace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CEBD349-4FD5-13F4-4E32-39DE251036E1}"/>
              </a:ext>
            </a:extLst>
          </p:cNvPr>
          <p:cNvSpPr txBox="1"/>
          <p:nvPr/>
        </p:nvSpPr>
        <p:spPr>
          <a:xfrm>
            <a:off x="4136453" y="-8974111"/>
            <a:ext cx="63574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200" b="1" dirty="0">
                <a:latin typeface="Poppins" panose="00000500000000000000" pitchFamily="2" charset="0"/>
                <a:cs typeface="Poppins" panose="00000500000000000000" pitchFamily="2" charset="0"/>
              </a:rPr>
              <a:t>The Problem</a:t>
            </a:r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E3A36064-7592-C21C-F7E2-292EF5E3D1DE}"/>
              </a:ext>
            </a:extLst>
          </p:cNvPr>
          <p:cNvSpPr/>
          <p:nvPr/>
        </p:nvSpPr>
        <p:spPr>
          <a:xfrm>
            <a:off x="1575177" y="-6037574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Struggle to find rental </a:t>
            </a:r>
          </a:p>
          <a:p>
            <a:pPr>
              <a:lnSpc>
                <a:spcPts val="2750"/>
              </a:lnSpc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     services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5C2A6D4-D3F6-6298-806E-7FD0F429AE98}"/>
              </a:ext>
            </a:extLst>
          </p:cNvPr>
          <p:cNvSpPr txBox="1"/>
          <p:nvPr/>
        </p:nvSpPr>
        <p:spPr>
          <a:xfrm>
            <a:off x="1575177" y="-7288630"/>
            <a:ext cx="21731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latin typeface="Poppins" panose="00000500000000000000" pitchFamily="2" charset="0"/>
                <a:cs typeface="Poppins" panose="00000500000000000000" pitchFamily="2" charset="0"/>
              </a:rPr>
              <a:t>Users</a:t>
            </a:r>
          </a:p>
        </p:txBody>
      </p:sp>
      <p:sp>
        <p:nvSpPr>
          <p:cNvPr id="52" name="Text 1">
            <a:extLst>
              <a:ext uri="{FF2B5EF4-FFF2-40B4-BE49-F238E27FC236}">
                <a16:creationId xmlns:a16="http://schemas.microsoft.com/office/drawing/2014/main" id="{83596845-BB85-5C39-0C9B-F922DDD7A661}"/>
              </a:ext>
            </a:extLst>
          </p:cNvPr>
          <p:cNvSpPr/>
          <p:nvPr/>
        </p:nvSpPr>
        <p:spPr>
          <a:xfrm>
            <a:off x="1575176" y="-4857587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Limited Rental Choices</a:t>
            </a:r>
          </a:p>
        </p:txBody>
      </p:sp>
      <p:sp>
        <p:nvSpPr>
          <p:cNvPr id="53" name="Text 1">
            <a:extLst>
              <a:ext uri="{FF2B5EF4-FFF2-40B4-BE49-F238E27FC236}">
                <a16:creationId xmlns:a16="http://schemas.microsoft.com/office/drawing/2014/main" id="{B544411C-5BDE-7AA8-B888-9528272CD557}"/>
              </a:ext>
            </a:extLst>
          </p:cNvPr>
          <p:cNvSpPr/>
          <p:nvPr/>
        </p:nvSpPr>
        <p:spPr>
          <a:xfrm>
            <a:off x="1575175" y="-3926975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4" name="Text 1">
            <a:extLst>
              <a:ext uri="{FF2B5EF4-FFF2-40B4-BE49-F238E27FC236}">
                <a16:creationId xmlns:a16="http://schemas.microsoft.com/office/drawing/2014/main" id="{DB6EBFAB-4E0E-7121-E31E-D752F67B61ED}"/>
              </a:ext>
            </a:extLst>
          </p:cNvPr>
          <p:cNvSpPr/>
          <p:nvPr/>
        </p:nvSpPr>
        <p:spPr>
          <a:xfrm>
            <a:off x="1575177" y="-3973791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Time Consuming</a:t>
            </a:r>
          </a:p>
        </p:txBody>
      </p:sp>
      <p:sp>
        <p:nvSpPr>
          <p:cNvPr id="55" name="Text 1">
            <a:extLst>
              <a:ext uri="{FF2B5EF4-FFF2-40B4-BE49-F238E27FC236}">
                <a16:creationId xmlns:a16="http://schemas.microsoft.com/office/drawing/2014/main" id="{8C018066-C6FC-B90D-F26F-5ABD01377551}"/>
              </a:ext>
            </a:extLst>
          </p:cNvPr>
          <p:cNvSpPr/>
          <p:nvPr/>
        </p:nvSpPr>
        <p:spPr>
          <a:xfrm>
            <a:off x="1575178" y="-3089995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Trust and Safety Issues</a:t>
            </a:r>
          </a:p>
        </p:txBody>
      </p:sp>
      <p:sp>
        <p:nvSpPr>
          <p:cNvPr id="56" name="Text 1">
            <a:extLst>
              <a:ext uri="{FF2B5EF4-FFF2-40B4-BE49-F238E27FC236}">
                <a16:creationId xmlns:a16="http://schemas.microsoft.com/office/drawing/2014/main" id="{190E4BCB-5EDB-05CD-23F5-AF1C57A730C6}"/>
              </a:ext>
            </a:extLst>
          </p:cNvPr>
          <p:cNvSpPr/>
          <p:nvPr/>
        </p:nvSpPr>
        <p:spPr>
          <a:xfrm>
            <a:off x="8261388" y="-6057475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Low Visibility &amp; Lack </a:t>
            </a:r>
          </a:p>
          <a:p>
            <a:pPr>
              <a:lnSpc>
                <a:spcPts val="2750"/>
              </a:lnSpc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     of Customers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127274C-C8B1-CB63-69AA-7C998F7259D1}"/>
              </a:ext>
            </a:extLst>
          </p:cNvPr>
          <p:cNvSpPr txBox="1"/>
          <p:nvPr/>
        </p:nvSpPr>
        <p:spPr>
          <a:xfrm>
            <a:off x="8760155" y="-7285856"/>
            <a:ext cx="26615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latin typeface="Poppins" panose="00000500000000000000" pitchFamily="2" charset="0"/>
                <a:cs typeface="Poppins" panose="00000500000000000000" pitchFamily="2" charset="0"/>
              </a:rPr>
              <a:t>Vendors</a:t>
            </a:r>
          </a:p>
        </p:txBody>
      </p:sp>
      <p:sp>
        <p:nvSpPr>
          <p:cNvPr id="58" name="Text 1">
            <a:extLst>
              <a:ext uri="{FF2B5EF4-FFF2-40B4-BE49-F238E27FC236}">
                <a16:creationId xmlns:a16="http://schemas.microsoft.com/office/drawing/2014/main" id="{96A5EBCE-A40A-F310-F615-313BCC0DF01C}"/>
              </a:ext>
            </a:extLst>
          </p:cNvPr>
          <p:cNvSpPr/>
          <p:nvPr/>
        </p:nvSpPr>
        <p:spPr>
          <a:xfrm>
            <a:off x="8128394" y="-5270446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9" name="Text 1">
            <a:extLst>
              <a:ext uri="{FF2B5EF4-FFF2-40B4-BE49-F238E27FC236}">
                <a16:creationId xmlns:a16="http://schemas.microsoft.com/office/drawing/2014/main" id="{18E5956C-9889-7004-39BA-38458C6DDA6F}"/>
              </a:ext>
            </a:extLst>
          </p:cNvPr>
          <p:cNvSpPr/>
          <p:nvPr/>
        </p:nvSpPr>
        <p:spPr>
          <a:xfrm>
            <a:off x="8128393" y="-4339834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0" name="Text 1">
            <a:extLst>
              <a:ext uri="{FF2B5EF4-FFF2-40B4-BE49-F238E27FC236}">
                <a16:creationId xmlns:a16="http://schemas.microsoft.com/office/drawing/2014/main" id="{BF877BB2-C04B-E5DE-FA48-151F70EA858F}"/>
              </a:ext>
            </a:extLst>
          </p:cNvPr>
          <p:cNvSpPr/>
          <p:nvPr/>
        </p:nvSpPr>
        <p:spPr>
          <a:xfrm>
            <a:off x="8309879" y="-2979886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High Marketing Cost</a:t>
            </a:r>
          </a:p>
        </p:txBody>
      </p:sp>
      <p:sp>
        <p:nvSpPr>
          <p:cNvPr id="61" name="Text 1">
            <a:extLst>
              <a:ext uri="{FF2B5EF4-FFF2-40B4-BE49-F238E27FC236}">
                <a16:creationId xmlns:a16="http://schemas.microsoft.com/office/drawing/2014/main" id="{9F04869C-FC01-5C94-CC6A-C187A28BEC1D}"/>
              </a:ext>
            </a:extLst>
          </p:cNvPr>
          <p:cNvSpPr/>
          <p:nvPr/>
        </p:nvSpPr>
        <p:spPr>
          <a:xfrm>
            <a:off x="8350058" y="-5097692"/>
            <a:ext cx="5307753" cy="644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Unclear Demand &amp; </a:t>
            </a:r>
          </a:p>
          <a:p>
            <a:pPr>
              <a:lnSpc>
                <a:spcPts val="2750"/>
              </a:lnSpc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     Pricing Strategy</a:t>
            </a:r>
          </a:p>
        </p:txBody>
      </p:sp>
      <p:sp>
        <p:nvSpPr>
          <p:cNvPr id="62" name="Text 1">
            <a:extLst>
              <a:ext uri="{FF2B5EF4-FFF2-40B4-BE49-F238E27FC236}">
                <a16:creationId xmlns:a16="http://schemas.microsoft.com/office/drawing/2014/main" id="{3FD39213-2260-46B9-1060-3C53C388BC9E}"/>
              </a:ext>
            </a:extLst>
          </p:cNvPr>
          <p:cNvSpPr/>
          <p:nvPr/>
        </p:nvSpPr>
        <p:spPr>
          <a:xfrm>
            <a:off x="8261388" y="-3910498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Lack of Trustable Customer</a:t>
            </a:r>
          </a:p>
          <a:p>
            <a:pPr>
              <a:lnSpc>
                <a:spcPts val="2750"/>
              </a:lnSpc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     Details</a:t>
            </a: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894B854D-64D2-8A78-D33D-FD706D7AE1EE}"/>
              </a:ext>
            </a:extLst>
          </p:cNvPr>
          <p:cNvSpPr/>
          <p:nvPr/>
        </p:nvSpPr>
        <p:spPr>
          <a:xfrm>
            <a:off x="1904133" y="2671290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More Options to Rent</a:t>
            </a: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3315A913-861D-FF57-9447-669E6CA7A8F0}"/>
              </a:ext>
            </a:extLst>
          </p:cNvPr>
          <p:cNvSpPr/>
          <p:nvPr/>
        </p:nvSpPr>
        <p:spPr>
          <a:xfrm>
            <a:off x="1904133" y="1875911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One App for All Rentals</a:t>
            </a:r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3A48D6A5-23AF-D018-0C15-595A073A2A69}"/>
              </a:ext>
            </a:extLst>
          </p:cNvPr>
          <p:cNvSpPr/>
          <p:nvPr/>
        </p:nvSpPr>
        <p:spPr>
          <a:xfrm>
            <a:off x="1928547" y="3466669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Transparent Pricing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0EA12D-B8BC-757D-B23B-8237F084DFEE}"/>
              </a:ext>
            </a:extLst>
          </p:cNvPr>
          <p:cNvSpPr txBox="1"/>
          <p:nvPr/>
        </p:nvSpPr>
        <p:spPr>
          <a:xfrm>
            <a:off x="2223191" y="943152"/>
            <a:ext cx="19016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atin typeface="Poppins" panose="00000500000000000000" pitchFamily="2" charset="0"/>
                <a:cs typeface="Poppins" panose="00000500000000000000" pitchFamily="2" charset="0"/>
              </a:rPr>
              <a:t>Users</a:t>
            </a:r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6BDDA43D-54F3-51E4-AB31-CE6EBF05A230}"/>
              </a:ext>
            </a:extLst>
          </p:cNvPr>
          <p:cNvSpPr/>
          <p:nvPr/>
        </p:nvSpPr>
        <p:spPr>
          <a:xfrm>
            <a:off x="1906904" y="6126217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Clear Demand &amp; Pricing Strategy</a:t>
            </a: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81298E9E-C3BF-E869-4E54-A14B894FE3D0}"/>
              </a:ext>
            </a:extLst>
          </p:cNvPr>
          <p:cNvSpPr/>
          <p:nvPr/>
        </p:nvSpPr>
        <p:spPr>
          <a:xfrm>
            <a:off x="1906904" y="5330838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List Rentals, Get Wider Reach</a:t>
            </a: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60AB1CAE-B81D-C332-0911-907E8B83DDBB}"/>
              </a:ext>
            </a:extLst>
          </p:cNvPr>
          <p:cNvSpPr/>
          <p:nvPr/>
        </p:nvSpPr>
        <p:spPr>
          <a:xfrm>
            <a:off x="1906904" y="6921596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Business with Trustable Customers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EA1E85-1BCE-874F-6A3C-4B66DA9A83AB}"/>
              </a:ext>
            </a:extLst>
          </p:cNvPr>
          <p:cNvSpPr txBox="1"/>
          <p:nvPr/>
        </p:nvSpPr>
        <p:spPr>
          <a:xfrm>
            <a:off x="2225961" y="4398079"/>
            <a:ext cx="2163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atin typeface="Poppins" panose="00000500000000000000" pitchFamily="2" charset="0"/>
                <a:cs typeface="Poppins" panose="00000500000000000000" pitchFamily="2" charset="0"/>
              </a:rPr>
              <a:t>Vendors</a:t>
            </a:r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7F89E5FE-69E6-8442-3576-C8DFDF58D505}"/>
              </a:ext>
            </a:extLst>
          </p:cNvPr>
          <p:cNvSpPr/>
          <p:nvPr/>
        </p:nvSpPr>
        <p:spPr>
          <a:xfrm>
            <a:off x="7413925" y="-1003282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000000"/>
                </a:solidFill>
                <a:latin typeface="Poppins" panose="00000500000000000000" pitchFamily="2" charset="0"/>
                <a:ea typeface="Inter Bold" pitchFamily="34" charset="-122"/>
                <a:cs typeface="Poppins" panose="00000500000000000000" pitchFamily="2" charset="0"/>
              </a:rPr>
              <a:t>Competitors</a:t>
            </a:r>
            <a:endParaRPr lang="en-US" sz="44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8ABD2F-B07B-05C4-467B-328AE2934E47}"/>
              </a:ext>
            </a:extLst>
          </p:cNvPr>
          <p:cNvSpPr/>
          <p:nvPr/>
        </p:nvSpPr>
        <p:spPr>
          <a:xfrm>
            <a:off x="5296106" y="-9963452"/>
            <a:ext cx="73643" cy="101892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681B3A5-0E2C-D74F-59E7-FF0E61CFE3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593" y="-10351679"/>
            <a:ext cx="1765795" cy="176579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96FFEDA-3C06-C732-2614-D67483A624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917" y="-9986661"/>
            <a:ext cx="2539538" cy="935619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C6D49107-F721-CD4F-E647-63DAC7C622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45853" y="-9885388"/>
            <a:ext cx="2961449" cy="56516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CF415EB-B773-667E-6946-05490AFFBD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3174" y="-10522105"/>
            <a:ext cx="2081504" cy="208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4763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3" grpId="0" animBg="1"/>
      <p:bldP spid="14" grpId="0"/>
      <p:bldP spid="15" grpId="0" animBg="1"/>
      <p:bldP spid="16" grpId="0" animBg="1"/>
      <p:bldP spid="17" grpId="0" animBg="1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B74F1-1FFA-4F51-12CB-1D8D74174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1F7ACD5B-832C-12EC-6278-F7A4D7747E53}"/>
              </a:ext>
            </a:extLst>
          </p:cNvPr>
          <p:cNvSpPr/>
          <p:nvPr/>
        </p:nvSpPr>
        <p:spPr>
          <a:xfrm>
            <a:off x="1219200" y="326571"/>
            <a:ext cx="4113728" cy="736270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91FB32-62F2-B92A-2C62-7A0F40BAFD3E}"/>
              </a:ext>
            </a:extLst>
          </p:cNvPr>
          <p:cNvSpPr/>
          <p:nvPr/>
        </p:nvSpPr>
        <p:spPr>
          <a:xfrm>
            <a:off x="12743411" y="7689273"/>
            <a:ext cx="1828800" cy="473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B8B3DC-4426-5BAA-94BF-CAE8B4B19401}"/>
              </a:ext>
            </a:extLst>
          </p:cNvPr>
          <p:cNvSpPr txBox="1"/>
          <p:nvPr/>
        </p:nvSpPr>
        <p:spPr>
          <a:xfrm>
            <a:off x="2027486" y="628527"/>
            <a:ext cx="26949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spc="600" dirty="0">
                <a:latin typeface="Poppins" panose="00000500000000000000" pitchFamily="2" charset="0"/>
                <a:cs typeface="Poppins" panose="00000500000000000000" pitchFamily="2" charset="0"/>
              </a:rPr>
              <a:t>LEEZ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DDD6674-E117-1878-EFE0-68478F36CB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53" r="3253"/>
          <a:stretch/>
        </p:blipFill>
        <p:spPr>
          <a:xfrm>
            <a:off x="1383033" y="1498221"/>
            <a:ext cx="3015893" cy="6272551"/>
          </a:xfrm>
          <a:prstGeom prst="roundRect">
            <a:avLst>
              <a:gd name="adj" fmla="val 19024"/>
            </a:avLst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226A46E3-094A-80DE-ED02-3CAF51ED6AC6}"/>
              </a:ext>
            </a:extLst>
          </p:cNvPr>
          <p:cNvSpPr txBox="1"/>
          <p:nvPr/>
        </p:nvSpPr>
        <p:spPr>
          <a:xfrm>
            <a:off x="2027486" y="1264665"/>
            <a:ext cx="22327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latin typeface="Poppins" panose="00000500000000000000" pitchFamily="2" charset="0"/>
                <a:cs typeface="Poppins" panose="00000500000000000000" pitchFamily="2" charset="0"/>
              </a:rPr>
              <a:t>One stop</a:t>
            </a:r>
            <a:r>
              <a:rPr lang="en-GB" sz="900" dirty="0">
                <a:latin typeface="Poppins" panose="00000500000000000000" pitchFamily="2" charset="0"/>
                <a:cs typeface="Poppins" panose="00000500000000000000" pitchFamily="2" charset="0"/>
              </a:rPr>
              <a:t> Rental Marketplace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6B16890-CB8F-DC40-75EE-7D39F55F9890}"/>
              </a:ext>
            </a:extLst>
          </p:cNvPr>
          <p:cNvSpPr txBox="1"/>
          <p:nvPr/>
        </p:nvSpPr>
        <p:spPr>
          <a:xfrm>
            <a:off x="4136453" y="-8974111"/>
            <a:ext cx="63574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200" b="1" dirty="0">
                <a:latin typeface="Poppins" panose="00000500000000000000" pitchFamily="2" charset="0"/>
                <a:cs typeface="Poppins" panose="00000500000000000000" pitchFamily="2" charset="0"/>
              </a:rPr>
              <a:t>The Problem</a:t>
            </a:r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4BDB581E-4387-1FB9-D683-76C953EFBB89}"/>
              </a:ext>
            </a:extLst>
          </p:cNvPr>
          <p:cNvSpPr/>
          <p:nvPr/>
        </p:nvSpPr>
        <p:spPr>
          <a:xfrm>
            <a:off x="1575177" y="-6037574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Struggle to find rental </a:t>
            </a:r>
          </a:p>
          <a:p>
            <a:pPr>
              <a:lnSpc>
                <a:spcPts val="2750"/>
              </a:lnSpc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     services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30BAD27-D797-FE53-356D-8553BCEF00EC}"/>
              </a:ext>
            </a:extLst>
          </p:cNvPr>
          <p:cNvSpPr txBox="1"/>
          <p:nvPr/>
        </p:nvSpPr>
        <p:spPr>
          <a:xfrm>
            <a:off x="1575177" y="-7288630"/>
            <a:ext cx="21731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latin typeface="Poppins" panose="00000500000000000000" pitchFamily="2" charset="0"/>
                <a:cs typeface="Poppins" panose="00000500000000000000" pitchFamily="2" charset="0"/>
              </a:rPr>
              <a:t>Users</a:t>
            </a:r>
          </a:p>
        </p:txBody>
      </p:sp>
      <p:sp>
        <p:nvSpPr>
          <p:cNvPr id="52" name="Text 1">
            <a:extLst>
              <a:ext uri="{FF2B5EF4-FFF2-40B4-BE49-F238E27FC236}">
                <a16:creationId xmlns:a16="http://schemas.microsoft.com/office/drawing/2014/main" id="{530508AF-9B39-151E-A459-FB6DBE935836}"/>
              </a:ext>
            </a:extLst>
          </p:cNvPr>
          <p:cNvSpPr/>
          <p:nvPr/>
        </p:nvSpPr>
        <p:spPr>
          <a:xfrm>
            <a:off x="1575176" y="-4857587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Limited Rental Choices</a:t>
            </a:r>
          </a:p>
        </p:txBody>
      </p:sp>
      <p:sp>
        <p:nvSpPr>
          <p:cNvPr id="53" name="Text 1">
            <a:extLst>
              <a:ext uri="{FF2B5EF4-FFF2-40B4-BE49-F238E27FC236}">
                <a16:creationId xmlns:a16="http://schemas.microsoft.com/office/drawing/2014/main" id="{8245A210-62FA-3DB8-A29E-DEBD2BF96CFD}"/>
              </a:ext>
            </a:extLst>
          </p:cNvPr>
          <p:cNvSpPr/>
          <p:nvPr/>
        </p:nvSpPr>
        <p:spPr>
          <a:xfrm>
            <a:off x="1575175" y="-3926975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4" name="Text 1">
            <a:extLst>
              <a:ext uri="{FF2B5EF4-FFF2-40B4-BE49-F238E27FC236}">
                <a16:creationId xmlns:a16="http://schemas.microsoft.com/office/drawing/2014/main" id="{C8B444F7-3C02-E671-8CA4-E5097DC4D356}"/>
              </a:ext>
            </a:extLst>
          </p:cNvPr>
          <p:cNvSpPr/>
          <p:nvPr/>
        </p:nvSpPr>
        <p:spPr>
          <a:xfrm>
            <a:off x="1575177" y="-3973791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Time Consuming</a:t>
            </a:r>
          </a:p>
        </p:txBody>
      </p:sp>
      <p:sp>
        <p:nvSpPr>
          <p:cNvPr id="55" name="Text 1">
            <a:extLst>
              <a:ext uri="{FF2B5EF4-FFF2-40B4-BE49-F238E27FC236}">
                <a16:creationId xmlns:a16="http://schemas.microsoft.com/office/drawing/2014/main" id="{0EE091EF-761A-48B6-0289-D508AA69E6D1}"/>
              </a:ext>
            </a:extLst>
          </p:cNvPr>
          <p:cNvSpPr/>
          <p:nvPr/>
        </p:nvSpPr>
        <p:spPr>
          <a:xfrm>
            <a:off x="1575178" y="-3089995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Trust and Safety Issues</a:t>
            </a:r>
          </a:p>
        </p:txBody>
      </p:sp>
      <p:sp>
        <p:nvSpPr>
          <p:cNvPr id="56" name="Text 1">
            <a:extLst>
              <a:ext uri="{FF2B5EF4-FFF2-40B4-BE49-F238E27FC236}">
                <a16:creationId xmlns:a16="http://schemas.microsoft.com/office/drawing/2014/main" id="{63CBDF79-1FFF-CF8A-2898-ED22C0286786}"/>
              </a:ext>
            </a:extLst>
          </p:cNvPr>
          <p:cNvSpPr/>
          <p:nvPr/>
        </p:nvSpPr>
        <p:spPr>
          <a:xfrm>
            <a:off x="8261388" y="-6057475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Low Visibility &amp; Lack </a:t>
            </a:r>
          </a:p>
          <a:p>
            <a:pPr>
              <a:lnSpc>
                <a:spcPts val="2750"/>
              </a:lnSpc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     of Customers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F1A2810-1973-0875-2EE6-8F75416D216B}"/>
              </a:ext>
            </a:extLst>
          </p:cNvPr>
          <p:cNvSpPr txBox="1"/>
          <p:nvPr/>
        </p:nvSpPr>
        <p:spPr>
          <a:xfrm>
            <a:off x="8760155" y="-7285856"/>
            <a:ext cx="26615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latin typeface="Poppins" panose="00000500000000000000" pitchFamily="2" charset="0"/>
                <a:cs typeface="Poppins" panose="00000500000000000000" pitchFamily="2" charset="0"/>
              </a:rPr>
              <a:t>Vendors</a:t>
            </a:r>
          </a:p>
        </p:txBody>
      </p:sp>
      <p:sp>
        <p:nvSpPr>
          <p:cNvPr id="58" name="Text 1">
            <a:extLst>
              <a:ext uri="{FF2B5EF4-FFF2-40B4-BE49-F238E27FC236}">
                <a16:creationId xmlns:a16="http://schemas.microsoft.com/office/drawing/2014/main" id="{5710030D-9ABD-F089-6ED4-C71BCEF91512}"/>
              </a:ext>
            </a:extLst>
          </p:cNvPr>
          <p:cNvSpPr/>
          <p:nvPr/>
        </p:nvSpPr>
        <p:spPr>
          <a:xfrm>
            <a:off x="8128394" y="-5270446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9" name="Text 1">
            <a:extLst>
              <a:ext uri="{FF2B5EF4-FFF2-40B4-BE49-F238E27FC236}">
                <a16:creationId xmlns:a16="http://schemas.microsoft.com/office/drawing/2014/main" id="{811A16ED-72C4-099A-3FA9-80DAF100B015}"/>
              </a:ext>
            </a:extLst>
          </p:cNvPr>
          <p:cNvSpPr/>
          <p:nvPr/>
        </p:nvSpPr>
        <p:spPr>
          <a:xfrm>
            <a:off x="8128393" y="-4339834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0" name="Text 1">
            <a:extLst>
              <a:ext uri="{FF2B5EF4-FFF2-40B4-BE49-F238E27FC236}">
                <a16:creationId xmlns:a16="http://schemas.microsoft.com/office/drawing/2014/main" id="{FFF82D28-7DED-2B3A-AA0B-BD9B3E19E555}"/>
              </a:ext>
            </a:extLst>
          </p:cNvPr>
          <p:cNvSpPr/>
          <p:nvPr/>
        </p:nvSpPr>
        <p:spPr>
          <a:xfrm>
            <a:off x="8309879" y="-2979886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High Marketing Cost</a:t>
            </a:r>
          </a:p>
        </p:txBody>
      </p:sp>
      <p:sp>
        <p:nvSpPr>
          <p:cNvPr id="61" name="Text 1">
            <a:extLst>
              <a:ext uri="{FF2B5EF4-FFF2-40B4-BE49-F238E27FC236}">
                <a16:creationId xmlns:a16="http://schemas.microsoft.com/office/drawing/2014/main" id="{32163E28-D84B-5DA1-48B4-15CED73CB3DE}"/>
              </a:ext>
            </a:extLst>
          </p:cNvPr>
          <p:cNvSpPr/>
          <p:nvPr/>
        </p:nvSpPr>
        <p:spPr>
          <a:xfrm>
            <a:off x="8350058" y="-5097692"/>
            <a:ext cx="5307753" cy="644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Unclear Demand &amp; </a:t>
            </a:r>
          </a:p>
          <a:p>
            <a:pPr>
              <a:lnSpc>
                <a:spcPts val="2750"/>
              </a:lnSpc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     Pricing Strategy</a:t>
            </a:r>
          </a:p>
        </p:txBody>
      </p:sp>
      <p:sp>
        <p:nvSpPr>
          <p:cNvPr id="62" name="Text 1">
            <a:extLst>
              <a:ext uri="{FF2B5EF4-FFF2-40B4-BE49-F238E27FC236}">
                <a16:creationId xmlns:a16="http://schemas.microsoft.com/office/drawing/2014/main" id="{21C54EDB-EF2F-5BEF-77C7-16F46344DBF1}"/>
              </a:ext>
            </a:extLst>
          </p:cNvPr>
          <p:cNvSpPr/>
          <p:nvPr/>
        </p:nvSpPr>
        <p:spPr>
          <a:xfrm>
            <a:off x="8261388" y="-3910498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Lack of Trustable Customer</a:t>
            </a:r>
          </a:p>
          <a:p>
            <a:pPr>
              <a:lnSpc>
                <a:spcPts val="2750"/>
              </a:lnSpc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     Details</a:t>
            </a: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C411AF3E-AE4E-B0CE-383D-15E125DC867E}"/>
              </a:ext>
            </a:extLst>
          </p:cNvPr>
          <p:cNvSpPr/>
          <p:nvPr/>
        </p:nvSpPr>
        <p:spPr>
          <a:xfrm>
            <a:off x="6858517" y="2671290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Booking History &amp; Favorites</a:t>
            </a: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0057E4DE-0545-5AD7-0460-BE91E7CF1ACE}"/>
              </a:ext>
            </a:extLst>
          </p:cNvPr>
          <p:cNvSpPr/>
          <p:nvPr/>
        </p:nvSpPr>
        <p:spPr>
          <a:xfrm>
            <a:off x="6858517" y="1875911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User Reviews &amp; Ratings</a:t>
            </a:r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B8511CFF-8272-10D0-567F-2EA73E18B69E}"/>
              </a:ext>
            </a:extLst>
          </p:cNvPr>
          <p:cNvSpPr/>
          <p:nvPr/>
        </p:nvSpPr>
        <p:spPr>
          <a:xfrm>
            <a:off x="6882931" y="3466669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Direct Vendor Contact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6333FC-874A-6C63-6916-CF6A078F5126}"/>
              </a:ext>
            </a:extLst>
          </p:cNvPr>
          <p:cNvSpPr txBox="1"/>
          <p:nvPr/>
        </p:nvSpPr>
        <p:spPr>
          <a:xfrm>
            <a:off x="7177575" y="943152"/>
            <a:ext cx="3766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atin typeface="Poppins" panose="00000500000000000000" pitchFamily="2" charset="0"/>
                <a:cs typeface="Poppins" panose="00000500000000000000" pitchFamily="2" charset="0"/>
              </a:rPr>
              <a:t>User Features</a:t>
            </a:r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BDB007A3-92A9-1688-448F-F7343136A0C7}"/>
              </a:ext>
            </a:extLst>
          </p:cNvPr>
          <p:cNvSpPr/>
          <p:nvPr/>
        </p:nvSpPr>
        <p:spPr>
          <a:xfrm>
            <a:off x="6861288" y="6126217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Customer Reviews &amp; Ratings</a:t>
            </a: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F1ABDF7D-45F9-A015-8E10-8C05FF8B81A6}"/>
              </a:ext>
            </a:extLst>
          </p:cNvPr>
          <p:cNvSpPr/>
          <p:nvPr/>
        </p:nvSpPr>
        <p:spPr>
          <a:xfrm>
            <a:off x="6861288" y="5330838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Useful Insights &amp; Dashboard</a:t>
            </a: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A8A14567-90F2-C415-2536-9B4DF81E49BE}"/>
              </a:ext>
            </a:extLst>
          </p:cNvPr>
          <p:cNvSpPr/>
          <p:nvPr/>
        </p:nvSpPr>
        <p:spPr>
          <a:xfrm>
            <a:off x="6861288" y="6921596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Fraud Prevention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4223CC-87DD-5CC7-CFD5-404B1600A93B}"/>
              </a:ext>
            </a:extLst>
          </p:cNvPr>
          <p:cNvSpPr txBox="1"/>
          <p:nvPr/>
        </p:nvSpPr>
        <p:spPr>
          <a:xfrm>
            <a:off x="7180345" y="4398079"/>
            <a:ext cx="4241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atin typeface="Poppins" panose="00000500000000000000" pitchFamily="2" charset="0"/>
                <a:cs typeface="Poppins" panose="00000500000000000000" pitchFamily="2" charset="0"/>
              </a:rPr>
              <a:t>Vendor Features</a:t>
            </a:r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912BE055-9D6B-BDC9-86C9-FB4E715FD382}"/>
              </a:ext>
            </a:extLst>
          </p:cNvPr>
          <p:cNvSpPr/>
          <p:nvPr/>
        </p:nvSpPr>
        <p:spPr>
          <a:xfrm>
            <a:off x="7413925" y="-1003282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000000"/>
                </a:solidFill>
                <a:latin typeface="Poppins" panose="00000500000000000000" pitchFamily="2" charset="0"/>
                <a:ea typeface="Inter Bold" pitchFamily="34" charset="-122"/>
                <a:cs typeface="Poppins" panose="00000500000000000000" pitchFamily="2" charset="0"/>
              </a:rPr>
              <a:t>Competitors</a:t>
            </a:r>
            <a:endParaRPr lang="en-US" sz="44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3ECCEDC-B17A-9B15-FE61-EAFA94F25C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593" y="-10351679"/>
            <a:ext cx="1765795" cy="176579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7A32C13-B97A-EA76-82BC-2167A236A4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917" y="-9986661"/>
            <a:ext cx="2539538" cy="93561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42455C1-1D1F-D0E5-1779-EAC89CB466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174" y="-10522105"/>
            <a:ext cx="2081504" cy="208150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4E73A04-A92D-DDE5-A313-BB5788AD6076}"/>
              </a:ext>
            </a:extLst>
          </p:cNvPr>
          <p:cNvSpPr/>
          <p:nvPr/>
        </p:nvSpPr>
        <p:spPr>
          <a:xfrm>
            <a:off x="5463541" y="-694754"/>
            <a:ext cx="45719" cy="390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59032025-DFA3-D3EF-FD43-9F924E2DE93B}"/>
              </a:ext>
            </a:extLst>
          </p:cNvPr>
          <p:cNvSpPr/>
          <p:nvPr/>
        </p:nvSpPr>
        <p:spPr>
          <a:xfrm>
            <a:off x="-12234808" y="2671290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More Options to Rent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4F490BBC-D5B6-A0CD-ED05-9152FCF34179}"/>
              </a:ext>
            </a:extLst>
          </p:cNvPr>
          <p:cNvSpPr/>
          <p:nvPr/>
        </p:nvSpPr>
        <p:spPr>
          <a:xfrm>
            <a:off x="-12234808" y="1875911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One App for All Rentals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50A65204-9487-1DAA-6735-B4358C20DB16}"/>
              </a:ext>
            </a:extLst>
          </p:cNvPr>
          <p:cNvSpPr/>
          <p:nvPr/>
        </p:nvSpPr>
        <p:spPr>
          <a:xfrm>
            <a:off x="-12234808" y="3466669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Transparent Pricing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CDAACF-AEC5-41E7-B3B9-E26BFC407523}"/>
              </a:ext>
            </a:extLst>
          </p:cNvPr>
          <p:cNvSpPr txBox="1"/>
          <p:nvPr/>
        </p:nvSpPr>
        <p:spPr>
          <a:xfrm>
            <a:off x="-13775694" y="943152"/>
            <a:ext cx="19016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atin typeface="Poppins" panose="00000500000000000000" pitchFamily="2" charset="0"/>
                <a:cs typeface="Poppins" panose="00000500000000000000" pitchFamily="2" charset="0"/>
              </a:rPr>
              <a:t>Users</a:t>
            </a:r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163D466E-67E8-048C-4D8C-9D8DD31F0182}"/>
              </a:ext>
            </a:extLst>
          </p:cNvPr>
          <p:cNvSpPr/>
          <p:nvPr/>
        </p:nvSpPr>
        <p:spPr>
          <a:xfrm>
            <a:off x="-11215682" y="6126217"/>
            <a:ext cx="5838528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Clear Demand &amp; Pricing Strategy</a:t>
            </a:r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72282C6D-8D8C-AAFA-12DC-71C21421053D}"/>
              </a:ext>
            </a:extLst>
          </p:cNvPr>
          <p:cNvSpPr/>
          <p:nvPr/>
        </p:nvSpPr>
        <p:spPr>
          <a:xfrm>
            <a:off x="-11215682" y="5330838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List Rentals, Get Wider Reach</a:t>
            </a:r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A8037715-8CC4-4C24-2049-538DDE688CFF}"/>
              </a:ext>
            </a:extLst>
          </p:cNvPr>
          <p:cNvSpPr/>
          <p:nvPr/>
        </p:nvSpPr>
        <p:spPr>
          <a:xfrm>
            <a:off x="-11215682" y="6921596"/>
            <a:ext cx="5838528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Business with Trustable Customers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C3B408-2CD6-87AA-38E0-A2375F9D2FF0}"/>
              </a:ext>
            </a:extLst>
          </p:cNvPr>
          <p:cNvSpPr txBox="1"/>
          <p:nvPr/>
        </p:nvSpPr>
        <p:spPr>
          <a:xfrm>
            <a:off x="-12367107" y="4326226"/>
            <a:ext cx="23794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atin typeface="Poppins" panose="00000500000000000000" pitchFamily="2" charset="0"/>
                <a:cs typeface="Poppins" panose="00000500000000000000" pitchFamily="2" charset="0"/>
              </a:rPr>
              <a:t>Vendors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502DE6-813F-EFD0-54FB-27FB44EA6E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2063" y="-9855777"/>
            <a:ext cx="2311519" cy="508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540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3" grpId="0" animBg="1"/>
      <p:bldP spid="14" grpId="0"/>
      <p:bldP spid="15" grpId="0" animBg="1"/>
      <p:bldP spid="16" grpId="0" animBg="1"/>
      <p:bldP spid="17" grpId="0" animBg="1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BD594-A494-26FF-AB94-31844B058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ACB214C-BFF9-3D0C-6852-E57AFB2AB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5919" y="2341669"/>
            <a:ext cx="2311519" cy="50802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79749DB-376B-EDA6-D3E3-09C959ECE3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7764" y="5054327"/>
            <a:ext cx="2539538" cy="93561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28D1B65-EA9E-3AB7-A490-1311998DB4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1028" y="4639240"/>
            <a:ext cx="1765795" cy="176579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A7C61F2-0BBD-B556-0AE8-8216DC610D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174" y="1659055"/>
            <a:ext cx="2081504" cy="2081504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4143F336-6BDE-84ED-7496-5EAD572F734E}"/>
              </a:ext>
            </a:extLst>
          </p:cNvPr>
          <p:cNvSpPr/>
          <p:nvPr/>
        </p:nvSpPr>
        <p:spPr>
          <a:xfrm>
            <a:off x="7781549" y="52041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000000"/>
                </a:solidFill>
                <a:latin typeface="Poppins" panose="00000500000000000000" pitchFamily="2" charset="0"/>
                <a:ea typeface="Inter Bold" pitchFamily="34" charset="-122"/>
                <a:cs typeface="Poppins" panose="00000500000000000000" pitchFamily="2" charset="0"/>
              </a:rPr>
              <a:t>Competitors</a:t>
            </a:r>
            <a:endParaRPr lang="en-US" sz="44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091E2E-5C0D-E6D9-364A-95982A52D989}"/>
              </a:ext>
            </a:extLst>
          </p:cNvPr>
          <p:cNvSpPr/>
          <p:nvPr/>
        </p:nvSpPr>
        <p:spPr>
          <a:xfrm>
            <a:off x="793790" y="101471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Car Rentals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D470082-2097-F54C-1C7B-1E2E2ADC7420}"/>
              </a:ext>
            </a:extLst>
          </p:cNvPr>
          <p:cNvSpPr/>
          <p:nvPr/>
        </p:nvSpPr>
        <p:spPr>
          <a:xfrm>
            <a:off x="793790" y="10728302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Zoomcar, Drivezy, LongDriveCars</a:t>
            </a:r>
            <a:endParaRPr lang="en-US" sz="1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8A7E733-E0F2-D6DD-A375-ABFE16AD20FA}"/>
              </a:ext>
            </a:extLst>
          </p:cNvPr>
          <p:cNvSpPr/>
          <p:nvPr/>
        </p:nvSpPr>
        <p:spPr>
          <a:xfrm>
            <a:off x="5332928" y="101471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Bike Rentals</a:t>
            </a:r>
            <a:endParaRPr lang="en-US" sz="2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2197717-4ED5-22C5-0771-A500EAD104BE}"/>
              </a:ext>
            </a:extLst>
          </p:cNvPr>
          <p:cNvSpPr/>
          <p:nvPr/>
        </p:nvSpPr>
        <p:spPr>
          <a:xfrm>
            <a:off x="5332928" y="10728302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Brothers</a:t>
            </a:r>
            <a:endParaRPr lang="en-US" sz="1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5637587-E948-3EA4-2B93-05A631FC2679}"/>
              </a:ext>
            </a:extLst>
          </p:cNvPr>
          <p:cNvSpPr/>
          <p:nvPr/>
        </p:nvSpPr>
        <p:spPr>
          <a:xfrm>
            <a:off x="9872067" y="101471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Furniture Rentals</a:t>
            </a:r>
            <a:endParaRPr lang="en-US" sz="22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6647F98-7A58-15E1-B9C1-11C883A31AD2}"/>
              </a:ext>
            </a:extLst>
          </p:cNvPr>
          <p:cNvSpPr/>
          <p:nvPr/>
        </p:nvSpPr>
        <p:spPr>
          <a:xfrm>
            <a:off x="1219200" y="326571"/>
            <a:ext cx="4113728" cy="736270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891D97C-7B42-742F-6831-0459AD78CF89}"/>
              </a:ext>
            </a:extLst>
          </p:cNvPr>
          <p:cNvSpPr/>
          <p:nvPr/>
        </p:nvSpPr>
        <p:spPr>
          <a:xfrm>
            <a:off x="9872067" y="10728302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Rentomojo, Furlenco</a:t>
            </a:r>
            <a:endParaRPr lang="en-US" sz="17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87A849-71A7-0E24-A352-95A5F2E3DF9F}"/>
              </a:ext>
            </a:extLst>
          </p:cNvPr>
          <p:cNvSpPr/>
          <p:nvPr/>
        </p:nvSpPr>
        <p:spPr>
          <a:xfrm>
            <a:off x="12743411" y="7689273"/>
            <a:ext cx="1828800" cy="473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5B982A-DDB9-764B-E089-BF51B6F36D2A}"/>
              </a:ext>
            </a:extLst>
          </p:cNvPr>
          <p:cNvSpPr/>
          <p:nvPr/>
        </p:nvSpPr>
        <p:spPr>
          <a:xfrm>
            <a:off x="12743411" y="7689273"/>
            <a:ext cx="1828800" cy="473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BD2ABE-4F87-9470-F732-78B075EC1303}"/>
              </a:ext>
            </a:extLst>
          </p:cNvPr>
          <p:cNvSpPr txBox="1"/>
          <p:nvPr/>
        </p:nvSpPr>
        <p:spPr>
          <a:xfrm>
            <a:off x="2038372" y="3428331"/>
            <a:ext cx="26949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b="1" spc="600" dirty="0">
                <a:latin typeface="Poppins" panose="00000500000000000000" pitchFamily="2" charset="0"/>
                <a:cs typeface="Poppins" panose="00000500000000000000" pitchFamily="2" charset="0"/>
              </a:rPr>
              <a:t>LEEZ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71FD1FE-B79B-F3C8-7100-D005298D33F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253" r="3253"/>
          <a:stretch/>
        </p:blipFill>
        <p:spPr>
          <a:xfrm>
            <a:off x="1383033" y="11107751"/>
            <a:ext cx="3015893" cy="6272551"/>
          </a:xfrm>
          <a:prstGeom prst="roundRect">
            <a:avLst>
              <a:gd name="adj" fmla="val 19024"/>
            </a:avLst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0CB2A51-A5CD-5185-C8E2-58416F256506}"/>
              </a:ext>
            </a:extLst>
          </p:cNvPr>
          <p:cNvSpPr txBox="1"/>
          <p:nvPr/>
        </p:nvSpPr>
        <p:spPr>
          <a:xfrm>
            <a:off x="2101115" y="4180851"/>
            <a:ext cx="223271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latin typeface="Poppins" panose="00000500000000000000" pitchFamily="2" charset="0"/>
                <a:cs typeface="Poppins" panose="00000500000000000000" pitchFamily="2" charset="0"/>
              </a:rPr>
              <a:t>One stop</a:t>
            </a:r>
            <a:r>
              <a:rPr lang="en-GB" sz="1000" dirty="0">
                <a:latin typeface="Poppins" panose="00000500000000000000" pitchFamily="2" charset="0"/>
                <a:cs typeface="Poppins" panose="00000500000000000000" pitchFamily="2" charset="0"/>
              </a:rPr>
              <a:t> Rental Marketplace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A99179D-F8B2-9A45-0816-EE40E01AEC6E}"/>
              </a:ext>
            </a:extLst>
          </p:cNvPr>
          <p:cNvSpPr/>
          <p:nvPr/>
        </p:nvSpPr>
        <p:spPr>
          <a:xfrm>
            <a:off x="5332928" y="1210180"/>
            <a:ext cx="73643" cy="540145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Text 0">
            <a:extLst>
              <a:ext uri="{FF2B5EF4-FFF2-40B4-BE49-F238E27FC236}">
                <a16:creationId xmlns:a16="http://schemas.microsoft.com/office/drawing/2014/main" id="{8B16DEA2-F883-4F6E-1425-E0BFEEBCCC26}"/>
              </a:ext>
            </a:extLst>
          </p:cNvPr>
          <p:cNvSpPr/>
          <p:nvPr/>
        </p:nvSpPr>
        <p:spPr>
          <a:xfrm>
            <a:off x="17087644" y="52041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latin typeface="Poppins" panose="00000500000000000000" pitchFamily="2" charset="0"/>
                <a:cs typeface="Poppins" panose="00000500000000000000" pitchFamily="2" charset="0"/>
              </a:rPr>
              <a:t>Analysis</a:t>
            </a:r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077AF0A8-A552-CB17-F826-41390346E215}"/>
              </a:ext>
            </a:extLst>
          </p:cNvPr>
          <p:cNvSpPr/>
          <p:nvPr/>
        </p:nvSpPr>
        <p:spPr>
          <a:xfrm>
            <a:off x="6858517" y="13366788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Booking History &amp; Favorites</a:t>
            </a:r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A81859B4-F6D0-C19D-3B3C-62E540EF94AE}"/>
              </a:ext>
            </a:extLst>
          </p:cNvPr>
          <p:cNvSpPr/>
          <p:nvPr/>
        </p:nvSpPr>
        <p:spPr>
          <a:xfrm>
            <a:off x="6858517" y="12571409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User Reviews &amp; Ratings</a:t>
            </a:r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264DAA50-C576-053B-3C63-C8D4A5FAE51E}"/>
              </a:ext>
            </a:extLst>
          </p:cNvPr>
          <p:cNvSpPr/>
          <p:nvPr/>
        </p:nvSpPr>
        <p:spPr>
          <a:xfrm>
            <a:off x="6882931" y="14162167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Direct Vendor Contact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4B9607-34EF-A476-EE2A-6EEAF97100BE}"/>
              </a:ext>
            </a:extLst>
          </p:cNvPr>
          <p:cNvSpPr txBox="1"/>
          <p:nvPr/>
        </p:nvSpPr>
        <p:spPr>
          <a:xfrm>
            <a:off x="7177575" y="11638650"/>
            <a:ext cx="3766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atin typeface="Poppins" panose="00000500000000000000" pitchFamily="2" charset="0"/>
                <a:cs typeface="Poppins" panose="00000500000000000000" pitchFamily="2" charset="0"/>
              </a:rPr>
              <a:t>User Features</a:t>
            </a:r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3AE56214-8639-28A7-3FC8-8929624DC463}"/>
              </a:ext>
            </a:extLst>
          </p:cNvPr>
          <p:cNvSpPr/>
          <p:nvPr/>
        </p:nvSpPr>
        <p:spPr>
          <a:xfrm>
            <a:off x="6861288" y="16821715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Customer Reviews &amp; Ratings</a:t>
            </a:r>
          </a:p>
        </p:txBody>
      </p:sp>
      <p:sp>
        <p:nvSpPr>
          <p:cNvPr id="34" name="Text 1">
            <a:extLst>
              <a:ext uri="{FF2B5EF4-FFF2-40B4-BE49-F238E27FC236}">
                <a16:creationId xmlns:a16="http://schemas.microsoft.com/office/drawing/2014/main" id="{F1484390-6A38-51D6-C6D3-043D8AC556BC}"/>
              </a:ext>
            </a:extLst>
          </p:cNvPr>
          <p:cNvSpPr/>
          <p:nvPr/>
        </p:nvSpPr>
        <p:spPr>
          <a:xfrm>
            <a:off x="6861288" y="16026336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Useful Insights &amp; Dashboard</a:t>
            </a:r>
          </a:p>
        </p:txBody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00D16E77-E918-CE44-6B6A-A4E50786768E}"/>
              </a:ext>
            </a:extLst>
          </p:cNvPr>
          <p:cNvSpPr/>
          <p:nvPr/>
        </p:nvSpPr>
        <p:spPr>
          <a:xfrm>
            <a:off x="6861288" y="17617094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Fraud Prevention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EC1BBA-20EB-8D3C-071F-C8FDE52D03AF}"/>
              </a:ext>
            </a:extLst>
          </p:cNvPr>
          <p:cNvSpPr txBox="1"/>
          <p:nvPr/>
        </p:nvSpPr>
        <p:spPr>
          <a:xfrm>
            <a:off x="7180345" y="15093577"/>
            <a:ext cx="4241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atin typeface="Poppins" panose="00000500000000000000" pitchFamily="2" charset="0"/>
                <a:cs typeface="Poppins" panose="00000500000000000000" pitchFamily="2" charset="0"/>
              </a:rPr>
              <a:t>Vendor Features</a:t>
            </a:r>
          </a:p>
        </p:txBody>
      </p:sp>
    </p:spTree>
    <p:extLst>
      <p:ext uri="{BB962C8B-B14F-4D97-AF65-F5344CB8AC3E}">
        <p14:creationId xmlns:p14="http://schemas.microsoft.com/office/powerpoint/2010/main" val="9879496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DA1C7-41A2-F4E1-B068-819E08D5F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6F218C45-3567-D276-5A53-D9168AA0E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225" y="2177742"/>
            <a:ext cx="2311519" cy="50802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E92C3F2-B813-2DCE-2CFB-ED0B0CD3D6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265" y="5054327"/>
            <a:ext cx="2539538" cy="93561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CDAA780-9C1B-B5A2-EF84-224D0C998F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8079" y="4639240"/>
            <a:ext cx="1765795" cy="176579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B7F338E-0EE9-CE79-F40B-CCFB78C19C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0225" y="1659055"/>
            <a:ext cx="2081504" cy="2081504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6FDD866C-CFF2-4B70-1C2D-936E389C003B}"/>
              </a:ext>
            </a:extLst>
          </p:cNvPr>
          <p:cNvSpPr/>
          <p:nvPr/>
        </p:nvSpPr>
        <p:spPr>
          <a:xfrm>
            <a:off x="8872301" y="57028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000000"/>
                </a:solidFill>
                <a:latin typeface="Poppins" panose="00000500000000000000" pitchFamily="2" charset="0"/>
                <a:ea typeface="Inter Bold" pitchFamily="34" charset="-122"/>
                <a:cs typeface="Poppins" panose="00000500000000000000" pitchFamily="2" charset="0"/>
              </a:rPr>
              <a:t>Competitors</a:t>
            </a:r>
            <a:endParaRPr lang="en-US" sz="44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DE451B-DAD5-109C-18E6-EE12F9B37E23}"/>
              </a:ext>
            </a:extLst>
          </p:cNvPr>
          <p:cNvSpPr/>
          <p:nvPr/>
        </p:nvSpPr>
        <p:spPr>
          <a:xfrm>
            <a:off x="793790" y="101471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Car Rentals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85D738B-4F29-B011-8540-994FDA7C718F}"/>
              </a:ext>
            </a:extLst>
          </p:cNvPr>
          <p:cNvSpPr/>
          <p:nvPr/>
        </p:nvSpPr>
        <p:spPr>
          <a:xfrm>
            <a:off x="793790" y="10728302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Zoomcar, Drivezy, LongDriveCars</a:t>
            </a:r>
            <a:endParaRPr lang="en-US" sz="1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906C3D5-3370-A586-A501-72549E0D7246}"/>
              </a:ext>
            </a:extLst>
          </p:cNvPr>
          <p:cNvSpPr/>
          <p:nvPr/>
        </p:nvSpPr>
        <p:spPr>
          <a:xfrm>
            <a:off x="5332928" y="101471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Bike Rentals</a:t>
            </a:r>
            <a:endParaRPr lang="en-US" sz="2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3C398B1-4518-32B0-3F7D-2319C0FD7DC6}"/>
              </a:ext>
            </a:extLst>
          </p:cNvPr>
          <p:cNvSpPr/>
          <p:nvPr/>
        </p:nvSpPr>
        <p:spPr>
          <a:xfrm>
            <a:off x="5332928" y="10728302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Brothers</a:t>
            </a:r>
            <a:endParaRPr lang="en-US" sz="1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EC4982E-8D0F-7D41-211E-C6690FD6D816}"/>
              </a:ext>
            </a:extLst>
          </p:cNvPr>
          <p:cNvSpPr/>
          <p:nvPr/>
        </p:nvSpPr>
        <p:spPr>
          <a:xfrm>
            <a:off x="9872067" y="101471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Furniture Rentals</a:t>
            </a:r>
            <a:endParaRPr lang="en-US" sz="22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9091D13-4AC5-B8B7-0CB7-304D5A8885FF}"/>
              </a:ext>
            </a:extLst>
          </p:cNvPr>
          <p:cNvSpPr/>
          <p:nvPr/>
        </p:nvSpPr>
        <p:spPr>
          <a:xfrm>
            <a:off x="1289271" y="294499"/>
            <a:ext cx="5735701" cy="736270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28EBDAD-4BA6-0592-3CC8-E9F6E33FEC6E}"/>
              </a:ext>
            </a:extLst>
          </p:cNvPr>
          <p:cNvSpPr/>
          <p:nvPr/>
        </p:nvSpPr>
        <p:spPr>
          <a:xfrm>
            <a:off x="9872067" y="10728302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Rentomojo, Furlenco</a:t>
            </a:r>
            <a:endParaRPr lang="en-US" sz="17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076C23-ABA9-34FA-36D3-842BAED907A8}"/>
              </a:ext>
            </a:extLst>
          </p:cNvPr>
          <p:cNvSpPr/>
          <p:nvPr/>
        </p:nvSpPr>
        <p:spPr>
          <a:xfrm>
            <a:off x="12743411" y="7689273"/>
            <a:ext cx="1828800" cy="473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E8E052-C647-C9F4-5DD6-2FE7FCEAF883}"/>
              </a:ext>
            </a:extLst>
          </p:cNvPr>
          <p:cNvSpPr/>
          <p:nvPr/>
        </p:nvSpPr>
        <p:spPr>
          <a:xfrm>
            <a:off x="12743411" y="7689273"/>
            <a:ext cx="1828800" cy="473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B59002-9167-6457-2453-BA4190153184}"/>
              </a:ext>
            </a:extLst>
          </p:cNvPr>
          <p:cNvSpPr txBox="1"/>
          <p:nvPr/>
        </p:nvSpPr>
        <p:spPr>
          <a:xfrm>
            <a:off x="2038372" y="434760"/>
            <a:ext cx="26949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b="1" spc="600" dirty="0">
                <a:latin typeface="Poppins" panose="00000500000000000000" pitchFamily="2" charset="0"/>
                <a:cs typeface="Poppins" panose="00000500000000000000" pitchFamily="2" charset="0"/>
              </a:rPr>
              <a:t>LEEZ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106A5BF-C99E-17E8-CDA1-8E7FDA9E752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253" r="3253"/>
          <a:stretch/>
        </p:blipFill>
        <p:spPr>
          <a:xfrm>
            <a:off x="1383033" y="11107751"/>
            <a:ext cx="3015893" cy="6272551"/>
          </a:xfrm>
          <a:prstGeom prst="roundRect">
            <a:avLst>
              <a:gd name="adj" fmla="val 19024"/>
            </a:avLst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1468282-09FC-EEE2-C161-7EC821FCB602}"/>
              </a:ext>
            </a:extLst>
          </p:cNvPr>
          <p:cNvSpPr txBox="1"/>
          <p:nvPr/>
        </p:nvSpPr>
        <p:spPr>
          <a:xfrm>
            <a:off x="2101115" y="1187280"/>
            <a:ext cx="223271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latin typeface="Poppins" panose="00000500000000000000" pitchFamily="2" charset="0"/>
                <a:cs typeface="Poppins" panose="00000500000000000000" pitchFamily="2" charset="0"/>
              </a:rPr>
              <a:t>One stop</a:t>
            </a:r>
            <a:r>
              <a:rPr lang="en-GB" sz="1000" dirty="0">
                <a:latin typeface="Poppins" panose="00000500000000000000" pitchFamily="2" charset="0"/>
                <a:cs typeface="Poppins" panose="00000500000000000000" pitchFamily="2" charset="0"/>
              </a:rPr>
              <a:t> Rental Marketplace</a:t>
            </a:r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9477F359-EAC4-6206-5308-634B8D4DE4F1}"/>
              </a:ext>
            </a:extLst>
          </p:cNvPr>
          <p:cNvSpPr/>
          <p:nvPr/>
        </p:nvSpPr>
        <p:spPr>
          <a:xfrm>
            <a:off x="6858517" y="12280820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More Options to Rent</a:t>
            </a:r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443A57BF-02F2-1F20-586E-65940D1F878E}"/>
              </a:ext>
            </a:extLst>
          </p:cNvPr>
          <p:cNvSpPr/>
          <p:nvPr/>
        </p:nvSpPr>
        <p:spPr>
          <a:xfrm>
            <a:off x="6858517" y="11485441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One App for All Rentals</a:t>
            </a: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2CA12F60-50EB-CDF1-CE26-8B239780EADE}"/>
              </a:ext>
            </a:extLst>
          </p:cNvPr>
          <p:cNvSpPr/>
          <p:nvPr/>
        </p:nvSpPr>
        <p:spPr>
          <a:xfrm>
            <a:off x="6882931" y="13076199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Transparent Pricing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8DA5D9-D341-66CF-1E35-F024933C5F03}"/>
              </a:ext>
            </a:extLst>
          </p:cNvPr>
          <p:cNvSpPr txBox="1"/>
          <p:nvPr/>
        </p:nvSpPr>
        <p:spPr>
          <a:xfrm>
            <a:off x="7177575" y="10552682"/>
            <a:ext cx="19016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atin typeface="Poppins" panose="00000500000000000000" pitchFamily="2" charset="0"/>
                <a:cs typeface="Poppins" panose="00000500000000000000" pitchFamily="2" charset="0"/>
              </a:rPr>
              <a:t>Users</a:t>
            </a: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75A621F7-134B-42D2-A6D1-6842345DE97F}"/>
              </a:ext>
            </a:extLst>
          </p:cNvPr>
          <p:cNvSpPr/>
          <p:nvPr/>
        </p:nvSpPr>
        <p:spPr>
          <a:xfrm>
            <a:off x="6861288" y="15409175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Clear Demand &amp; Pricing Strategy</a:t>
            </a: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4DFB5972-13E9-5ACA-0364-4A752C7A5E72}"/>
              </a:ext>
            </a:extLst>
          </p:cNvPr>
          <p:cNvSpPr/>
          <p:nvPr/>
        </p:nvSpPr>
        <p:spPr>
          <a:xfrm>
            <a:off x="6861288" y="14613796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List Rentals, Get Wider Reach</a:t>
            </a:r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F3F5CE32-A21D-D9DC-B962-571D8984E4A9}"/>
              </a:ext>
            </a:extLst>
          </p:cNvPr>
          <p:cNvSpPr/>
          <p:nvPr/>
        </p:nvSpPr>
        <p:spPr>
          <a:xfrm>
            <a:off x="6861288" y="16204554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Business with Trustable Customers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BDEBAB-A58F-2F85-EB82-31C7C2F32B1F}"/>
              </a:ext>
            </a:extLst>
          </p:cNvPr>
          <p:cNvSpPr txBox="1"/>
          <p:nvPr/>
        </p:nvSpPr>
        <p:spPr>
          <a:xfrm>
            <a:off x="7180345" y="13681037"/>
            <a:ext cx="2163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atin typeface="Poppins" panose="00000500000000000000" pitchFamily="2" charset="0"/>
                <a:cs typeface="Poppins" panose="00000500000000000000" pitchFamily="2" charset="0"/>
              </a:rPr>
              <a:t>Vendors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B86A907-B6C4-8A02-AF8F-BCCD72F694F1}"/>
              </a:ext>
            </a:extLst>
          </p:cNvPr>
          <p:cNvSpPr/>
          <p:nvPr/>
        </p:nvSpPr>
        <p:spPr>
          <a:xfrm>
            <a:off x="6988151" y="520414"/>
            <a:ext cx="73643" cy="668529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ext 1">
            <a:extLst>
              <a:ext uri="{FF2B5EF4-FFF2-40B4-BE49-F238E27FC236}">
                <a16:creationId xmlns:a16="http://schemas.microsoft.com/office/drawing/2014/main" id="{879A41AF-6D20-9E5D-C12F-596275B76C4C}"/>
              </a:ext>
            </a:extLst>
          </p:cNvPr>
          <p:cNvSpPr/>
          <p:nvPr/>
        </p:nvSpPr>
        <p:spPr>
          <a:xfrm>
            <a:off x="925813" y="3277923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Wide Rental Categories</a:t>
            </a:r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7A90F3B3-C2ED-44B6-81D3-2D0360BB1207}"/>
              </a:ext>
            </a:extLst>
          </p:cNvPr>
          <p:cNvSpPr/>
          <p:nvPr/>
        </p:nvSpPr>
        <p:spPr>
          <a:xfrm>
            <a:off x="925813" y="2191596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Zero Commission</a:t>
            </a:r>
          </a:p>
          <a:p>
            <a:pPr>
              <a:lnSpc>
                <a:spcPts val="2750"/>
              </a:lnSpc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     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(Listing Fee Only)</a:t>
            </a:r>
          </a:p>
        </p:txBody>
      </p:sp>
      <p:sp>
        <p:nvSpPr>
          <p:cNvPr id="34" name="Text 1">
            <a:extLst>
              <a:ext uri="{FF2B5EF4-FFF2-40B4-BE49-F238E27FC236}">
                <a16:creationId xmlns:a16="http://schemas.microsoft.com/office/drawing/2014/main" id="{749F1C01-DA12-0143-8B1D-C48C336E2913}"/>
              </a:ext>
            </a:extLst>
          </p:cNvPr>
          <p:cNvSpPr/>
          <p:nvPr/>
        </p:nvSpPr>
        <p:spPr>
          <a:xfrm>
            <a:off x="950227" y="4123180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Market Coverage 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(Tier2&amp;3)</a:t>
            </a: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E275263-244F-2C5F-2A3B-CFBF5216989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253" r="3253"/>
          <a:stretch/>
        </p:blipFill>
        <p:spPr>
          <a:xfrm>
            <a:off x="10682737" y="11107751"/>
            <a:ext cx="3015893" cy="6272551"/>
          </a:xfrm>
          <a:prstGeom prst="roundRect">
            <a:avLst>
              <a:gd name="adj" fmla="val 19024"/>
            </a:avLst>
          </a:prstGeom>
        </p:spPr>
      </p:pic>
      <p:sp>
        <p:nvSpPr>
          <p:cNvPr id="36" name="Text 0">
            <a:extLst>
              <a:ext uri="{FF2B5EF4-FFF2-40B4-BE49-F238E27FC236}">
                <a16:creationId xmlns:a16="http://schemas.microsoft.com/office/drawing/2014/main" id="{8D5C3AC1-D441-9029-7B6D-0DE394EA894B}"/>
              </a:ext>
            </a:extLst>
          </p:cNvPr>
          <p:cNvSpPr/>
          <p:nvPr/>
        </p:nvSpPr>
        <p:spPr>
          <a:xfrm>
            <a:off x="-5737633" y="102221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000000"/>
                </a:solidFill>
                <a:latin typeface="Poppins" panose="00000500000000000000" pitchFamily="2" charset="0"/>
                <a:ea typeface="Inter Bold" pitchFamily="34" charset="-122"/>
                <a:cs typeface="Poppins" panose="00000500000000000000" pitchFamily="2" charset="0"/>
              </a:rPr>
              <a:t>Revenue Streams</a:t>
            </a:r>
            <a:endParaRPr lang="en-US" sz="44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5E6649D9-E990-B43B-0059-C9B871E5619E}"/>
              </a:ext>
            </a:extLst>
          </p:cNvPr>
          <p:cNvGrpSpPr/>
          <p:nvPr/>
        </p:nvGrpSpPr>
        <p:grpSpPr>
          <a:xfrm>
            <a:off x="793790" y="12308500"/>
            <a:ext cx="7556421" cy="853321"/>
            <a:chOff x="793790" y="2337197"/>
            <a:chExt cx="7556421" cy="853321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A52A4928-1C7D-3377-1CA3-EFE66D916E1F}"/>
                </a:ext>
              </a:extLst>
            </p:cNvPr>
            <p:cNvGrpSpPr/>
            <p:nvPr/>
          </p:nvGrpSpPr>
          <p:grpSpPr>
            <a:xfrm>
              <a:off x="793790" y="2337197"/>
              <a:ext cx="510302" cy="510302"/>
              <a:chOff x="793790" y="2337197"/>
              <a:chExt cx="510302" cy="510302"/>
            </a:xfrm>
          </p:grpSpPr>
          <p:sp>
            <p:nvSpPr>
              <p:cNvPr id="78" name="Shape 1">
                <a:extLst>
                  <a:ext uri="{FF2B5EF4-FFF2-40B4-BE49-F238E27FC236}">
                    <a16:creationId xmlns:a16="http://schemas.microsoft.com/office/drawing/2014/main" id="{1E14A801-B155-C5B0-7FFB-8143AF4116FE}"/>
                  </a:ext>
                </a:extLst>
              </p:cNvPr>
              <p:cNvSpPr/>
              <p:nvPr/>
            </p:nvSpPr>
            <p:spPr>
              <a:xfrm>
                <a:off x="793790" y="2337197"/>
                <a:ext cx="510302" cy="510302"/>
              </a:xfrm>
              <a:prstGeom prst="roundRect">
                <a:avLst>
                  <a:gd name="adj" fmla="val 18669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 w="7620">
                <a:solidFill>
                  <a:srgbClr val="C0C1D7"/>
                </a:solidFill>
                <a:prstDash val="solid"/>
              </a:ln>
            </p:spPr>
          </p:sp>
          <p:sp>
            <p:nvSpPr>
              <p:cNvPr id="79" name="Text 2">
                <a:extLst>
                  <a:ext uri="{FF2B5EF4-FFF2-40B4-BE49-F238E27FC236}">
                    <a16:creationId xmlns:a16="http://schemas.microsoft.com/office/drawing/2014/main" id="{4356AD0D-0ECD-A2B1-A0B0-E724BDFD1AA8}"/>
                  </a:ext>
                </a:extLst>
              </p:cNvPr>
              <p:cNvSpPr/>
              <p:nvPr/>
            </p:nvSpPr>
            <p:spPr>
              <a:xfrm>
                <a:off x="980599" y="2422208"/>
                <a:ext cx="136565" cy="34028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650"/>
                  </a:lnSpc>
                  <a:buNone/>
                </a:pPr>
                <a:r>
                  <a:rPr lang="en-US" sz="2650" b="1" kern="0" spc="-80" dirty="0">
                    <a:solidFill>
                      <a:schemeClr val="bg1"/>
                    </a:solidFill>
                    <a:latin typeface="Inter Bold" pitchFamily="34" charset="0"/>
                    <a:ea typeface="Inter Bold" pitchFamily="34" charset="-122"/>
                    <a:cs typeface="Inter Bold" pitchFamily="34" charset="-120"/>
                  </a:rPr>
                  <a:t>1</a:t>
                </a:r>
                <a:endParaRPr lang="en-US" sz="265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76" name="Text 3">
              <a:extLst>
                <a:ext uri="{FF2B5EF4-FFF2-40B4-BE49-F238E27FC236}">
                  <a16:creationId xmlns:a16="http://schemas.microsoft.com/office/drawing/2014/main" id="{A66E7E2E-5117-EFC8-A33F-2B3E2FBB7FC6}"/>
                </a:ext>
              </a:extLst>
            </p:cNvPr>
            <p:cNvSpPr/>
            <p:nvPr/>
          </p:nvSpPr>
          <p:spPr>
            <a:xfrm>
              <a:off x="1530906" y="2337197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750"/>
                </a:lnSpc>
                <a:buNone/>
              </a:pPr>
              <a:r>
                <a:rPr lang="en-US" sz="2200" b="1" kern="0" spc="-67" dirty="0">
                  <a:solidFill>
                    <a:srgbClr val="272525"/>
                  </a:solidFill>
                  <a:latin typeface="Poppins" panose="00000500000000000000" pitchFamily="2" charset="0"/>
                  <a:ea typeface="Inter Bold" pitchFamily="34" charset="-122"/>
                  <a:cs typeface="Poppins" panose="00000500000000000000" pitchFamily="2" charset="0"/>
                </a:rPr>
                <a:t>Listing Fees</a:t>
              </a:r>
              <a:endParaRPr lang="en-US" sz="22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7" name="Text 4">
              <a:extLst>
                <a:ext uri="{FF2B5EF4-FFF2-40B4-BE49-F238E27FC236}">
                  <a16:creationId xmlns:a16="http://schemas.microsoft.com/office/drawing/2014/main" id="{B4FD8316-DF3A-6B1F-97BD-172D031C5565}"/>
                </a:ext>
              </a:extLst>
            </p:cNvPr>
            <p:cNvSpPr/>
            <p:nvPr/>
          </p:nvSpPr>
          <p:spPr>
            <a:xfrm>
              <a:off x="1530906" y="2827615"/>
              <a:ext cx="6819305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850"/>
                </a:lnSpc>
                <a:buNone/>
              </a:pPr>
              <a:r>
                <a:rPr lang="en-US" sz="1750" kern="0" spc="-36" dirty="0">
                  <a:solidFill>
                    <a:srgbClr val="272525"/>
                  </a:solidFill>
                  <a:latin typeface="Poppins" panose="00000500000000000000" pitchFamily="2" charset="0"/>
                  <a:ea typeface="Inter" pitchFamily="34" charset="-122"/>
                  <a:cs typeface="Poppins" panose="00000500000000000000" pitchFamily="2" charset="0"/>
                </a:rPr>
                <a:t>Vendors pay to showcase products.</a:t>
              </a:r>
              <a:endParaRPr lang="en-US" sz="1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36F5842E-235B-D523-A4CC-4963FDE2D046}"/>
              </a:ext>
            </a:extLst>
          </p:cNvPr>
          <p:cNvGrpSpPr/>
          <p:nvPr/>
        </p:nvGrpSpPr>
        <p:grpSpPr>
          <a:xfrm>
            <a:off x="793790" y="12308500"/>
            <a:ext cx="7556421" cy="853321"/>
            <a:chOff x="793790" y="3672483"/>
            <a:chExt cx="7556421" cy="853321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82E3CD39-4DF2-BB87-E87E-2B0AE0AB02AE}"/>
                </a:ext>
              </a:extLst>
            </p:cNvPr>
            <p:cNvGrpSpPr/>
            <p:nvPr/>
          </p:nvGrpSpPr>
          <p:grpSpPr>
            <a:xfrm>
              <a:off x="793790" y="3672483"/>
              <a:ext cx="510302" cy="510302"/>
              <a:chOff x="793790" y="3672483"/>
              <a:chExt cx="510302" cy="510302"/>
            </a:xfrm>
          </p:grpSpPr>
          <p:sp>
            <p:nvSpPr>
              <p:cNvPr id="84" name="Shape 5">
                <a:extLst>
                  <a:ext uri="{FF2B5EF4-FFF2-40B4-BE49-F238E27FC236}">
                    <a16:creationId xmlns:a16="http://schemas.microsoft.com/office/drawing/2014/main" id="{CC633523-7FFB-936A-6E50-4D211C7D40AD}"/>
                  </a:ext>
                </a:extLst>
              </p:cNvPr>
              <p:cNvSpPr/>
              <p:nvPr/>
            </p:nvSpPr>
            <p:spPr>
              <a:xfrm>
                <a:off x="793790" y="3672483"/>
                <a:ext cx="510302" cy="510302"/>
              </a:xfrm>
              <a:prstGeom prst="roundRect">
                <a:avLst>
                  <a:gd name="adj" fmla="val 18669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 w="7620">
                <a:solidFill>
                  <a:srgbClr val="C0C1D7"/>
                </a:solidFill>
                <a:prstDash val="solid"/>
              </a:ln>
            </p:spPr>
          </p:sp>
          <p:sp>
            <p:nvSpPr>
              <p:cNvPr id="85" name="Text 6">
                <a:extLst>
                  <a:ext uri="{FF2B5EF4-FFF2-40B4-BE49-F238E27FC236}">
                    <a16:creationId xmlns:a16="http://schemas.microsoft.com/office/drawing/2014/main" id="{EA822D33-0208-DC13-053B-91C4BA6FE603}"/>
                  </a:ext>
                </a:extLst>
              </p:cNvPr>
              <p:cNvSpPr/>
              <p:nvPr/>
            </p:nvSpPr>
            <p:spPr>
              <a:xfrm>
                <a:off x="946904" y="3757493"/>
                <a:ext cx="203954" cy="34028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650"/>
                  </a:lnSpc>
                  <a:buNone/>
                </a:pPr>
                <a:r>
                  <a:rPr lang="en-US" sz="2650" b="1" kern="0" spc="-80" dirty="0">
                    <a:solidFill>
                      <a:schemeClr val="bg1"/>
                    </a:solidFill>
                    <a:latin typeface="Inter Bold" pitchFamily="34" charset="0"/>
                    <a:ea typeface="Inter Bold" pitchFamily="34" charset="-122"/>
                    <a:cs typeface="Inter Bold" pitchFamily="34" charset="-120"/>
                  </a:rPr>
                  <a:t>2</a:t>
                </a:r>
                <a:endParaRPr lang="en-US" sz="265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2" name="Text 7">
              <a:extLst>
                <a:ext uri="{FF2B5EF4-FFF2-40B4-BE49-F238E27FC236}">
                  <a16:creationId xmlns:a16="http://schemas.microsoft.com/office/drawing/2014/main" id="{DE8A7123-869E-D657-5662-0C4234C112C4}"/>
                </a:ext>
              </a:extLst>
            </p:cNvPr>
            <p:cNvSpPr/>
            <p:nvPr/>
          </p:nvSpPr>
          <p:spPr>
            <a:xfrm>
              <a:off x="1530906" y="3672483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750"/>
                </a:lnSpc>
                <a:buNone/>
              </a:pPr>
              <a:r>
                <a:rPr lang="en-US" sz="2200" b="1" kern="0" spc="-67" dirty="0">
                  <a:solidFill>
                    <a:srgbClr val="272525"/>
                  </a:solidFill>
                  <a:latin typeface="Poppins" panose="00000500000000000000" pitchFamily="2" charset="0"/>
                  <a:ea typeface="Inter Bold" pitchFamily="34" charset="-122"/>
                  <a:cs typeface="Poppins" panose="00000500000000000000" pitchFamily="2" charset="0"/>
                </a:rPr>
                <a:t>Featured Listings</a:t>
              </a:r>
              <a:endParaRPr lang="en-US" sz="22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3" name="Text 8">
              <a:extLst>
                <a:ext uri="{FF2B5EF4-FFF2-40B4-BE49-F238E27FC236}">
                  <a16:creationId xmlns:a16="http://schemas.microsoft.com/office/drawing/2014/main" id="{123FB24B-BC94-2A3E-7C50-C72105FCFB54}"/>
                </a:ext>
              </a:extLst>
            </p:cNvPr>
            <p:cNvSpPr/>
            <p:nvPr/>
          </p:nvSpPr>
          <p:spPr>
            <a:xfrm>
              <a:off x="1530906" y="4162901"/>
              <a:ext cx="6819305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850"/>
                </a:lnSpc>
                <a:buNone/>
              </a:pPr>
              <a:r>
                <a:rPr lang="en-US" sz="1750" kern="0" spc="-36" dirty="0">
                  <a:solidFill>
                    <a:srgbClr val="272525"/>
                  </a:solidFill>
                  <a:latin typeface="Poppins" panose="00000500000000000000" pitchFamily="2" charset="0"/>
                  <a:ea typeface="Inter" pitchFamily="34" charset="-122"/>
                  <a:cs typeface="Poppins" panose="00000500000000000000" pitchFamily="2" charset="0"/>
                </a:rPr>
                <a:t>Top placements for vendors.</a:t>
              </a:r>
              <a:endParaRPr lang="en-US" sz="1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40E653D4-D2B4-0585-FD53-D36040DEB69D}"/>
              </a:ext>
            </a:extLst>
          </p:cNvPr>
          <p:cNvGrpSpPr/>
          <p:nvPr/>
        </p:nvGrpSpPr>
        <p:grpSpPr>
          <a:xfrm>
            <a:off x="793790" y="12308500"/>
            <a:ext cx="7556421" cy="853321"/>
            <a:chOff x="793790" y="5007769"/>
            <a:chExt cx="7556421" cy="853321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BDEC0AF4-1A28-078F-E8B7-CB63D045BCC8}"/>
                </a:ext>
              </a:extLst>
            </p:cNvPr>
            <p:cNvGrpSpPr/>
            <p:nvPr/>
          </p:nvGrpSpPr>
          <p:grpSpPr>
            <a:xfrm>
              <a:off x="793790" y="5007769"/>
              <a:ext cx="510302" cy="510302"/>
              <a:chOff x="793790" y="5007769"/>
              <a:chExt cx="510302" cy="510302"/>
            </a:xfrm>
          </p:grpSpPr>
          <p:sp>
            <p:nvSpPr>
              <p:cNvPr id="90" name="Shape 9">
                <a:extLst>
                  <a:ext uri="{FF2B5EF4-FFF2-40B4-BE49-F238E27FC236}">
                    <a16:creationId xmlns:a16="http://schemas.microsoft.com/office/drawing/2014/main" id="{DD8B5994-60B9-70AE-E8B5-FAD4C50AF5A8}"/>
                  </a:ext>
                </a:extLst>
              </p:cNvPr>
              <p:cNvSpPr/>
              <p:nvPr/>
            </p:nvSpPr>
            <p:spPr>
              <a:xfrm>
                <a:off x="793790" y="5007769"/>
                <a:ext cx="510302" cy="510302"/>
              </a:xfrm>
              <a:prstGeom prst="roundRect">
                <a:avLst>
                  <a:gd name="adj" fmla="val 18669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 w="7620">
                <a:solidFill>
                  <a:srgbClr val="C0C1D7"/>
                </a:solidFill>
                <a:prstDash val="solid"/>
              </a:ln>
            </p:spPr>
          </p:sp>
          <p:sp>
            <p:nvSpPr>
              <p:cNvPr id="91" name="Text 10">
                <a:extLst>
                  <a:ext uri="{FF2B5EF4-FFF2-40B4-BE49-F238E27FC236}">
                    <a16:creationId xmlns:a16="http://schemas.microsoft.com/office/drawing/2014/main" id="{6C5DE876-7670-DDA8-0396-2C101473317E}"/>
                  </a:ext>
                </a:extLst>
              </p:cNvPr>
              <p:cNvSpPr/>
              <p:nvPr/>
            </p:nvSpPr>
            <p:spPr>
              <a:xfrm>
                <a:off x="944166" y="5092779"/>
                <a:ext cx="209431" cy="34028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650"/>
                  </a:lnSpc>
                  <a:buNone/>
                </a:pPr>
                <a:r>
                  <a:rPr lang="en-US" sz="2650" b="1" kern="0" spc="-80" dirty="0">
                    <a:solidFill>
                      <a:schemeClr val="bg1"/>
                    </a:solidFill>
                    <a:latin typeface="Inter Bold" pitchFamily="34" charset="0"/>
                    <a:ea typeface="Inter Bold" pitchFamily="34" charset="-122"/>
                    <a:cs typeface="Inter Bold" pitchFamily="34" charset="-120"/>
                  </a:rPr>
                  <a:t>3</a:t>
                </a:r>
                <a:endParaRPr lang="en-US" sz="265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8" name="Text 11">
              <a:extLst>
                <a:ext uri="{FF2B5EF4-FFF2-40B4-BE49-F238E27FC236}">
                  <a16:creationId xmlns:a16="http://schemas.microsoft.com/office/drawing/2014/main" id="{69AC3339-E2C3-B62B-5046-0919C682CEF4}"/>
                </a:ext>
              </a:extLst>
            </p:cNvPr>
            <p:cNvSpPr/>
            <p:nvPr/>
          </p:nvSpPr>
          <p:spPr>
            <a:xfrm>
              <a:off x="1530906" y="5007769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750"/>
                </a:lnSpc>
                <a:buNone/>
              </a:pPr>
              <a:r>
                <a:rPr lang="en-US" sz="2200" b="1" kern="0" spc="-67" dirty="0">
                  <a:solidFill>
                    <a:srgbClr val="272525"/>
                  </a:solidFill>
                  <a:latin typeface="Poppins" panose="00000500000000000000" pitchFamily="2" charset="0"/>
                  <a:ea typeface="Inter Bold" pitchFamily="34" charset="-122"/>
                  <a:cs typeface="Poppins" panose="00000500000000000000" pitchFamily="2" charset="0"/>
                </a:rPr>
                <a:t>Marketing</a:t>
              </a:r>
              <a:endParaRPr lang="en-US" sz="22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9" name="Text 12">
              <a:extLst>
                <a:ext uri="{FF2B5EF4-FFF2-40B4-BE49-F238E27FC236}">
                  <a16:creationId xmlns:a16="http://schemas.microsoft.com/office/drawing/2014/main" id="{682A49B0-6123-9A25-F16F-DD3765C43559}"/>
                </a:ext>
              </a:extLst>
            </p:cNvPr>
            <p:cNvSpPr/>
            <p:nvPr/>
          </p:nvSpPr>
          <p:spPr>
            <a:xfrm>
              <a:off x="1530906" y="5498187"/>
              <a:ext cx="6819305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850"/>
                </a:lnSpc>
                <a:buNone/>
              </a:pPr>
              <a:r>
                <a:rPr lang="en-US" sz="1750" kern="0" spc="-36" dirty="0">
                  <a:solidFill>
                    <a:srgbClr val="272525"/>
                  </a:solidFill>
                  <a:latin typeface="Poppins" panose="00000500000000000000" pitchFamily="2" charset="0"/>
                  <a:ea typeface="Inter" pitchFamily="34" charset="-122"/>
                  <a:cs typeface="Poppins" panose="00000500000000000000" pitchFamily="2" charset="0"/>
                </a:rPr>
                <a:t>Targeted vendor ads.</a:t>
              </a:r>
              <a:endParaRPr lang="en-US" sz="1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2D8FF316-9120-6856-A356-EC47B1712C43}"/>
              </a:ext>
            </a:extLst>
          </p:cNvPr>
          <p:cNvGrpSpPr/>
          <p:nvPr/>
        </p:nvGrpSpPr>
        <p:grpSpPr>
          <a:xfrm>
            <a:off x="793790" y="12308500"/>
            <a:ext cx="7556421" cy="853321"/>
            <a:chOff x="793790" y="6343055"/>
            <a:chExt cx="7556421" cy="853321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59B321EB-BED9-BE21-8DFC-B15241E3717A}"/>
                </a:ext>
              </a:extLst>
            </p:cNvPr>
            <p:cNvGrpSpPr/>
            <p:nvPr/>
          </p:nvGrpSpPr>
          <p:grpSpPr>
            <a:xfrm>
              <a:off x="793790" y="6343055"/>
              <a:ext cx="510302" cy="510302"/>
              <a:chOff x="793790" y="6343055"/>
              <a:chExt cx="510302" cy="510302"/>
            </a:xfrm>
          </p:grpSpPr>
          <p:sp>
            <p:nvSpPr>
              <p:cNvPr id="96" name="Shape 13">
                <a:extLst>
                  <a:ext uri="{FF2B5EF4-FFF2-40B4-BE49-F238E27FC236}">
                    <a16:creationId xmlns:a16="http://schemas.microsoft.com/office/drawing/2014/main" id="{ACBD1658-B78D-447A-6DCE-8CBD9CDFC4A2}"/>
                  </a:ext>
                </a:extLst>
              </p:cNvPr>
              <p:cNvSpPr/>
              <p:nvPr/>
            </p:nvSpPr>
            <p:spPr>
              <a:xfrm>
                <a:off x="793790" y="6343055"/>
                <a:ext cx="510302" cy="510302"/>
              </a:xfrm>
              <a:prstGeom prst="roundRect">
                <a:avLst>
                  <a:gd name="adj" fmla="val 18669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 w="7620">
                <a:solidFill>
                  <a:srgbClr val="C0C1D7"/>
                </a:solidFill>
                <a:prstDash val="solid"/>
              </a:ln>
            </p:spPr>
          </p:sp>
          <p:sp>
            <p:nvSpPr>
              <p:cNvPr id="97" name="Text 14">
                <a:extLst>
                  <a:ext uri="{FF2B5EF4-FFF2-40B4-BE49-F238E27FC236}">
                    <a16:creationId xmlns:a16="http://schemas.microsoft.com/office/drawing/2014/main" id="{2974A6F0-2C20-7736-3E25-201D946E18B8}"/>
                  </a:ext>
                </a:extLst>
              </p:cNvPr>
              <p:cNvSpPr/>
              <p:nvPr/>
            </p:nvSpPr>
            <p:spPr>
              <a:xfrm>
                <a:off x="938927" y="6428065"/>
                <a:ext cx="219908" cy="34028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650"/>
                  </a:lnSpc>
                  <a:buNone/>
                </a:pPr>
                <a:r>
                  <a:rPr lang="en-US" sz="2650" b="1" kern="0" spc="-80" dirty="0">
                    <a:solidFill>
                      <a:schemeClr val="bg1"/>
                    </a:solidFill>
                    <a:latin typeface="Inter Bold" pitchFamily="34" charset="0"/>
                    <a:ea typeface="Inter Bold" pitchFamily="34" charset="-122"/>
                    <a:cs typeface="Inter Bold" pitchFamily="34" charset="-120"/>
                  </a:rPr>
                  <a:t>4</a:t>
                </a:r>
                <a:endParaRPr lang="en-US" sz="265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94" name="Text 15">
              <a:extLst>
                <a:ext uri="{FF2B5EF4-FFF2-40B4-BE49-F238E27FC236}">
                  <a16:creationId xmlns:a16="http://schemas.microsoft.com/office/drawing/2014/main" id="{4A6353DF-80C3-CE3E-90E9-2315012639AB}"/>
                </a:ext>
              </a:extLst>
            </p:cNvPr>
            <p:cNvSpPr/>
            <p:nvPr/>
          </p:nvSpPr>
          <p:spPr>
            <a:xfrm>
              <a:off x="1530906" y="6343055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750"/>
                </a:lnSpc>
                <a:buNone/>
              </a:pPr>
              <a:r>
                <a:rPr lang="en-US" sz="2200" b="1" kern="0" spc="-67" dirty="0">
                  <a:solidFill>
                    <a:srgbClr val="272525"/>
                  </a:solidFill>
                  <a:latin typeface="Poppins" panose="00000500000000000000" pitchFamily="2" charset="0"/>
                  <a:ea typeface="Inter Bold" pitchFamily="34" charset="-122"/>
                  <a:cs typeface="Poppins" panose="00000500000000000000" pitchFamily="2" charset="0"/>
                </a:rPr>
                <a:t>Data Insights</a:t>
              </a:r>
              <a:endParaRPr lang="en-US" sz="22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5" name="Text 16">
              <a:extLst>
                <a:ext uri="{FF2B5EF4-FFF2-40B4-BE49-F238E27FC236}">
                  <a16:creationId xmlns:a16="http://schemas.microsoft.com/office/drawing/2014/main" id="{1A47AD6E-0F39-37CF-3F00-1CD6FEE96D68}"/>
                </a:ext>
              </a:extLst>
            </p:cNvPr>
            <p:cNvSpPr/>
            <p:nvPr/>
          </p:nvSpPr>
          <p:spPr>
            <a:xfrm>
              <a:off x="1530906" y="6833473"/>
              <a:ext cx="6819305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850"/>
                </a:lnSpc>
                <a:buNone/>
              </a:pPr>
              <a:r>
                <a:rPr lang="en-US" sz="1750" kern="0" spc="-36" dirty="0">
                  <a:solidFill>
                    <a:srgbClr val="272525"/>
                  </a:solidFill>
                  <a:latin typeface="Poppins" panose="00000500000000000000" pitchFamily="2" charset="0"/>
                  <a:ea typeface="Inter" pitchFamily="34" charset="-122"/>
                  <a:cs typeface="Poppins" panose="00000500000000000000" pitchFamily="2" charset="0"/>
                </a:rPr>
                <a:t>Monetizing user behavior data.</a:t>
              </a:r>
              <a:endParaRPr lang="en-US" sz="1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23" name="Text 1">
            <a:extLst>
              <a:ext uri="{FF2B5EF4-FFF2-40B4-BE49-F238E27FC236}">
                <a16:creationId xmlns:a16="http://schemas.microsoft.com/office/drawing/2014/main" id="{59815B72-D131-9B3B-F11C-FF172C904595}"/>
              </a:ext>
            </a:extLst>
          </p:cNvPr>
          <p:cNvSpPr/>
          <p:nvPr/>
        </p:nvSpPr>
        <p:spPr>
          <a:xfrm>
            <a:off x="975148" y="5058169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Useful Insights to Vendors</a:t>
            </a:r>
          </a:p>
        </p:txBody>
      </p:sp>
      <p:sp>
        <p:nvSpPr>
          <p:cNvPr id="37" name="Text 1">
            <a:extLst>
              <a:ext uri="{FF2B5EF4-FFF2-40B4-BE49-F238E27FC236}">
                <a16:creationId xmlns:a16="http://schemas.microsoft.com/office/drawing/2014/main" id="{8A2F2FDD-F0D7-F1D3-9CB5-1A93EF99FB62}"/>
              </a:ext>
            </a:extLst>
          </p:cNvPr>
          <p:cNvSpPr/>
          <p:nvPr/>
        </p:nvSpPr>
        <p:spPr>
          <a:xfrm>
            <a:off x="8401707" y="3264069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Limited Categories</a:t>
            </a:r>
          </a:p>
        </p:txBody>
      </p:sp>
      <p:sp>
        <p:nvSpPr>
          <p:cNvPr id="38" name="Text 1">
            <a:extLst>
              <a:ext uri="{FF2B5EF4-FFF2-40B4-BE49-F238E27FC236}">
                <a16:creationId xmlns:a16="http://schemas.microsoft.com/office/drawing/2014/main" id="{C68519BF-51F5-CAED-4DCB-FC3F6DACCC31}"/>
              </a:ext>
            </a:extLst>
          </p:cNvPr>
          <p:cNvSpPr/>
          <p:nvPr/>
        </p:nvSpPr>
        <p:spPr>
          <a:xfrm>
            <a:off x="8401707" y="2177742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Commission Based</a:t>
            </a:r>
          </a:p>
          <a:p>
            <a:pPr>
              <a:lnSpc>
                <a:spcPts val="2750"/>
              </a:lnSpc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     &amp;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  </a:t>
            </a: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Own Inventory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9" name="Text 1">
            <a:extLst>
              <a:ext uri="{FF2B5EF4-FFF2-40B4-BE49-F238E27FC236}">
                <a16:creationId xmlns:a16="http://schemas.microsoft.com/office/drawing/2014/main" id="{33545581-E816-8DC3-B512-4D08D0572781}"/>
              </a:ext>
            </a:extLst>
          </p:cNvPr>
          <p:cNvSpPr/>
          <p:nvPr/>
        </p:nvSpPr>
        <p:spPr>
          <a:xfrm>
            <a:off x="8426121" y="4109326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Mostly Present in Tier 1 </a:t>
            </a:r>
          </a:p>
        </p:txBody>
      </p:sp>
      <p:sp>
        <p:nvSpPr>
          <p:cNvPr id="40" name="Text 1">
            <a:extLst>
              <a:ext uri="{FF2B5EF4-FFF2-40B4-BE49-F238E27FC236}">
                <a16:creationId xmlns:a16="http://schemas.microsoft.com/office/drawing/2014/main" id="{4C1E742C-FE42-C368-3387-9A8AB327A3B2}"/>
              </a:ext>
            </a:extLst>
          </p:cNvPr>
          <p:cNvSpPr/>
          <p:nvPr/>
        </p:nvSpPr>
        <p:spPr>
          <a:xfrm>
            <a:off x="8451042" y="5044315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No User Feedback</a:t>
            </a:r>
          </a:p>
        </p:txBody>
      </p:sp>
    </p:spTree>
    <p:extLst>
      <p:ext uri="{BB962C8B-B14F-4D97-AF65-F5344CB8AC3E}">
        <p14:creationId xmlns:p14="http://schemas.microsoft.com/office/powerpoint/2010/main" val="42918164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1">
            <a:extLst>
              <a:ext uri="{FF2B5EF4-FFF2-40B4-BE49-F238E27FC236}">
                <a16:creationId xmlns:a16="http://schemas.microsoft.com/office/drawing/2014/main" id="{14A5D41B-CEC1-928C-E425-0B25A9C35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265" y="5054327"/>
            <a:ext cx="2539538" cy="935619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46827071-1AA4-499D-97C1-FB2C7B487D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4354" y="2295772"/>
            <a:ext cx="2961449" cy="565162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A990B5B3-15C9-2397-0DF1-1BC071D036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8079" y="4639240"/>
            <a:ext cx="1765795" cy="1765795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11B5ABA4-C67F-01FD-2211-90D688145B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30225" y="1659055"/>
            <a:ext cx="2081504" cy="2081504"/>
          </a:xfrm>
          <a:prstGeom prst="rect">
            <a:avLst/>
          </a:prstGeom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03581281-2709-DA1D-0A02-786D0713323E}"/>
              </a:ext>
            </a:extLst>
          </p:cNvPr>
          <p:cNvSpPr/>
          <p:nvPr/>
        </p:nvSpPr>
        <p:spPr>
          <a:xfrm>
            <a:off x="1219199" y="326571"/>
            <a:ext cx="5735701" cy="736270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316715-3FD8-4B12-150E-7D87F3ADA684}"/>
              </a:ext>
            </a:extLst>
          </p:cNvPr>
          <p:cNvSpPr/>
          <p:nvPr/>
        </p:nvSpPr>
        <p:spPr>
          <a:xfrm>
            <a:off x="12743411" y="7689273"/>
            <a:ext cx="1828800" cy="473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83DCA8F5-41FD-9891-C30F-582F8CF2B16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253" r="3253"/>
          <a:stretch/>
        </p:blipFill>
        <p:spPr>
          <a:xfrm>
            <a:off x="9942507" y="1702502"/>
            <a:ext cx="3015893" cy="6272551"/>
          </a:xfrm>
          <a:prstGeom prst="roundRect">
            <a:avLst>
              <a:gd name="adj" fmla="val 19024"/>
            </a:avLst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9CC04AF1-C899-FA6E-ECAA-688ACC981A88}"/>
              </a:ext>
            </a:extLst>
          </p:cNvPr>
          <p:cNvSpPr txBox="1"/>
          <p:nvPr/>
        </p:nvSpPr>
        <p:spPr>
          <a:xfrm>
            <a:off x="10367732" y="434760"/>
            <a:ext cx="26949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b="1" spc="600" dirty="0">
                <a:latin typeface="Poppins" panose="00000500000000000000" pitchFamily="2" charset="0"/>
                <a:cs typeface="Poppins" panose="00000500000000000000" pitchFamily="2" charset="0"/>
              </a:rPr>
              <a:t>LEEZ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7ED5472-38EB-F0F8-02EE-3C194029E956}"/>
              </a:ext>
            </a:extLst>
          </p:cNvPr>
          <p:cNvSpPr txBox="1"/>
          <p:nvPr/>
        </p:nvSpPr>
        <p:spPr>
          <a:xfrm>
            <a:off x="10430475" y="1187280"/>
            <a:ext cx="223271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latin typeface="Poppins" panose="00000500000000000000" pitchFamily="2" charset="0"/>
                <a:cs typeface="Poppins" panose="00000500000000000000" pitchFamily="2" charset="0"/>
              </a:rPr>
              <a:t>One stop</a:t>
            </a:r>
            <a:r>
              <a:rPr lang="en-GB" sz="1000" dirty="0">
                <a:latin typeface="Poppins" panose="00000500000000000000" pitchFamily="2" charset="0"/>
                <a:cs typeface="Poppins" panose="00000500000000000000" pitchFamily="2" charset="0"/>
              </a:rPr>
              <a:t> Rental Marketplace</a:t>
            </a:r>
          </a:p>
        </p:txBody>
      </p:sp>
      <p:sp>
        <p:nvSpPr>
          <p:cNvPr id="3" name="Text 0"/>
          <p:cNvSpPr/>
          <p:nvPr/>
        </p:nvSpPr>
        <p:spPr>
          <a:xfrm>
            <a:off x="793790" y="103310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000000"/>
                </a:solidFill>
                <a:latin typeface="Poppins" panose="00000500000000000000" pitchFamily="2" charset="0"/>
                <a:ea typeface="Inter Bold" pitchFamily="34" charset="-122"/>
                <a:cs typeface="Poppins" panose="00000500000000000000" pitchFamily="2" charset="0"/>
              </a:rPr>
              <a:t>Revenue Streams</a:t>
            </a:r>
            <a:endParaRPr lang="en-US" sz="44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1F24B416-554F-C76B-461C-3A00E998A71A}"/>
              </a:ext>
            </a:extLst>
          </p:cNvPr>
          <p:cNvGrpSpPr/>
          <p:nvPr/>
        </p:nvGrpSpPr>
        <p:grpSpPr>
          <a:xfrm>
            <a:off x="793790" y="2337197"/>
            <a:ext cx="7556421" cy="853321"/>
            <a:chOff x="793790" y="2337197"/>
            <a:chExt cx="7556421" cy="853321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AD955A4D-3A4E-8FBC-4A31-833B8B104FB0}"/>
                </a:ext>
              </a:extLst>
            </p:cNvPr>
            <p:cNvGrpSpPr/>
            <p:nvPr/>
          </p:nvGrpSpPr>
          <p:grpSpPr>
            <a:xfrm>
              <a:off x="793790" y="2337197"/>
              <a:ext cx="510302" cy="510302"/>
              <a:chOff x="793790" y="2337197"/>
              <a:chExt cx="510302" cy="510302"/>
            </a:xfrm>
          </p:grpSpPr>
          <p:sp>
            <p:nvSpPr>
              <p:cNvPr id="4" name="Shape 1"/>
              <p:cNvSpPr/>
              <p:nvPr/>
            </p:nvSpPr>
            <p:spPr>
              <a:xfrm>
                <a:off x="793790" y="2337197"/>
                <a:ext cx="510302" cy="510302"/>
              </a:xfrm>
              <a:prstGeom prst="roundRect">
                <a:avLst>
                  <a:gd name="adj" fmla="val 18669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 w="7620">
                <a:solidFill>
                  <a:srgbClr val="C0C1D7"/>
                </a:solidFill>
                <a:prstDash val="solid"/>
              </a:ln>
            </p:spPr>
          </p:sp>
          <p:sp>
            <p:nvSpPr>
              <p:cNvPr id="5" name="Text 2"/>
              <p:cNvSpPr/>
              <p:nvPr/>
            </p:nvSpPr>
            <p:spPr>
              <a:xfrm>
                <a:off x="980599" y="2422208"/>
                <a:ext cx="136565" cy="34028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650"/>
                  </a:lnSpc>
                  <a:buNone/>
                </a:pPr>
                <a:r>
                  <a:rPr lang="en-US" sz="2650" b="1" kern="0" spc="-80" dirty="0">
                    <a:solidFill>
                      <a:schemeClr val="bg1"/>
                    </a:solidFill>
                    <a:latin typeface="Inter Bold" pitchFamily="34" charset="0"/>
                    <a:ea typeface="Inter Bold" pitchFamily="34" charset="-122"/>
                    <a:cs typeface="Inter Bold" pitchFamily="34" charset="-120"/>
                  </a:rPr>
                  <a:t>1</a:t>
                </a:r>
                <a:endParaRPr lang="en-US" sz="265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6" name="Text 3"/>
            <p:cNvSpPr/>
            <p:nvPr/>
          </p:nvSpPr>
          <p:spPr>
            <a:xfrm>
              <a:off x="1530906" y="2337197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750"/>
                </a:lnSpc>
                <a:buNone/>
              </a:pPr>
              <a:r>
                <a:rPr lang="en-US" sz="2200" b="1" kern="0" spc="-67" dirty="0">
                  <a:solidFill>
                    <a:srgbClr val="272525"/>
                  </a:solidFill>
                  <a:latin typeface="Poppins" panose="00000500000000000000" pitchFamily="2" charset="0"/>
                  <a:ea typeface="Inter Bold" pitchFamily="34" charset="-122"/>
                  <a:cs typeface="Poppins" panose="00000500000000000000" pitchFamily="2" charset="0"/>
                </a:rPr>
                <a:t>Listing Fees</a:t>
              </a:r>
              <a:endParaRPr lang="en-US" sz="22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" name="Text 4"/>
            <p:cNvSpPr/>
            <p:nvPr/>
          </p:nvSpPr>
          <p:spPr>
            <a:xfrm>
              <a:off x="1530906" y="2827615"/>
              <a:ext cx="6819305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850"/>
                </a:lnSpc>
                <a:buNone/>
              </a:pPr>
              <a:r>
                <a:rPr lang="en-US" sz="1750" kern="0" spc="-36" dirty="0">
                  <a:solidFill>
                    <a:srgbClr val="272525"/>
                  </a:solidFill>
                  <a:latin typeface="Poppins" panose="00000500000000000000" pitchFamily="2" charset="0"/>
                  <a:ea typeface="Inter" pitchFamily="34" charset="-122"/>
                  <a:cs typeface="Poppins" panose="00000500000000000000" pitchFamily="2" charset="0"/>
                </a:rPr>
                <a:t>Vendors pay to showcase products.</a:t>
              </a:r>
              <a:endParaRPr lang="en-US" sz="1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E1B6E47-ED9B-C19E-BC9B-8E5EE1C4205B}"/>
              </a:ext>
            </a:extLst>
          </p:cNvPr>
          <p:cNvGrpSpPr/>
          <p:nvPr/>
        </p:nvGrpSpPr>
        <p:grpSpPr>
          <a:xfrm>
            <a:off x="793790" y="3672483"/>
            <a:ext cx="7556421" cy="853321"/>
            <a:chOff x="793790" y="3672483"/>
            <a:chExt cx="7556421" cy="853321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0754996A-7159-4CD0-56B4-6BF2676977CB}"/>
                </a:ext>
              </a:extLst>
            </p:cNvPr>
            <p:cNvGrpSpPr/>
            <p:nvPr/>
          </p:nvGrpSpPr>
          <p:grpSpPr>
            <a:xfrm>
              <a:off x="793790" y="3672483"/>
              <a:ext cx="510302" cy="510302"/>
              <a:chOff x="793790" y="3672483"/>
              <a:chExt cx="510302" cy="510302"/>
            </a:xfrm>
          </p:grpSpPr>
          <p:sp>
            <p:nvSpPr>
              <p:cNvPr id="8" name="Shape 5"/>
              <p:cNvSpPr/>
              <p:nvPr/>
            </p:nvSpPr>
            <p:spPr>
              <a:xfrm>
                <a:off x="793790" y="3672483"/>
                <a:ext cx="510302" cy="510302"/>
              </a:xfrm>
              <a:prstGeom prst="roundRect">
                <a:avLst>
                  <a:gd name="adj" fmla="val 18669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 w="7620">
                <a:solidFill>
                  <a:srgbClr val="C0C1D7"/>
                </a:solidFill>
                <a:prstDash val="solid"/>
              </a:ln>
            </p:spPr>
          </p:sp>
          <p:sp>
            <p:nvSpPr>
              <p:cNvPr id="9" name="Text 6"/>
              <p:cNvSpPr/>
              <p:nvPr/>
            </p:nvSpPr>
            <p:spPr>
              <a:xfrm>
                <a:off x="946904" y="3757493"/>
                <a:ext cx="203954" cy="34028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650"/>
                  </a:lnSpc>
                  <a:buNone/>
                </a:pPr>
                <a:r>
                  <a:rPr lang="en-US" sz="2650" b="1" kern="0" spc="-80" dirty="0">
                    <a:solidFill>
                      <a:schemeClr val="bg1"/>
                    </a:solidFill>
                    <a:latin typeface="Inter Bold" pitchFamily="34" charset="0"/>
                    <a:ea typeface="Inter Bold" pitchFamily="34" charset="-122"/>
                    <a:cs typeface="Inter Bold" pitchFamily="34" charset="-120"/>
                  </a:rPr>
                  <a:t>2</a:t>
                </a:r>
                <a:endParaRPr lang="en-US" sz="265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0" name="Text 7"/>
            <p:cNvSpPr/>
            <p:nvPr/>
          </p:nvSpPr>
          <p:spPr>
            <a:xfrm>
              <a:off x="1530906" y="3672483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750"/>
                </a:lnSpc>
                <a:buNone/>
              </a:pPr>
              <a:r>
                <a:rPr lang="en-US" sz="2200" b="1" kern="0" spc="-67" dirty="0">
                  <a:solidFill>
                    <a:srgbClr val="272525"/>
                  </a:solidFill>
                  <a:latin typeface="Poppins" panose="00000500000000000000" pitchFamily="2" charset="0"/>
                  <a:ea typeface="Inter Bold" pitchFamily="34" charset="-122"/>
                  <a:cs typeface="Poppins" panose="00000500000000000000" pitchFamily="2" charset="0"/>
                </a:rPr>
                <a:t>Featured Listings</a:t>
              </a:r>
              <a:endParaRPr lang="en-US" sz="22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1" name="Text 8"/>
            <p:cNvSpPr/>
            <p:nvPr/>
          </p:nvSpPr>
          <p:spPr>
            <a:xfrm>
              <a:off x="1530906" y="4162901"/>
              <a:ext cx="6819305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850"/>
                </a:lnSpc>
                <a:buNone/>
              </a:pPr>
              <a:r>
                <a:rPr lang="en-US" sz="1750" kern="0" spc="-36" dirty="0">
                  <a:solidFill>
                    <a:srgbClr val="272525"/>
                  </a:solidFill>
                  <a:latin typeface="Poppins" panose="00000500000000000000" pitchFamily="2" charset="0"/>
                  <a:ea typeface="Inter" pitchFamily="34" charset="-122"/>
                  <a:cs typeface="Poppins" panose="00000500000000000000" pitchFamily="2" charset="0"/>
                </a:rPr>
                <a:t>Top placements for vendors.</a:t>
              </a:r>
              <a:endParaRPr lang="en-US" sz="1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E0677FB3-311F-D4E2-92A4-D9BBE9BEEB32}"/>
              </a:ext>
            </a:extLst>
          </p:cNvPr>
          <p:cNvGrpSpPr/>
          <p:nvPr/>
        </p:nvGrpSpPr>
        <p:grpSpPr>
          <a:xfrm>
            <a:off x="793790" y="5007769"/>
            <a:ext cx="7556421" cy="853321"/>
            <a:chOff x="793790" y="5007769"/>
            <a:chExt cx="7556421" cy="853321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D8B22FD8-9C5F-376F-9673-E97A09B6BB20}"/>
                </a:ext>
              </a:extLst>
            </p:cNvPr>
            <p:cNvGrpSpPr/>
            <p:nvPr/>
          </p:nvGrpSpPr>
          <p:grpSpPr>
            <a:xfrm>
              <a:off x="793790" y="5007769"/>
              <a:ext cx="510302" cy="510302"/>
              <a:chOff x="793790" y="5007769"/>
              <a:chExt cx="510302" cy="510302"/>
            </a:xfrm>
          </p:grpSpPr>
          <p:sp>
            <p:nvSpPr>
              <p:cNvPr id="12" name="Shape 9"/>
              <p:cNvSpPr/>
              <p:nvPr/>
            </p:nvSpPr>
            <p:spPr>
              <a:xfrm>
                <a:off x="793790" y="5007769"/>
                <a:ext cx="510302" cy="510302"/>
              </a:xfrm>
              <a:prstGeom prst="roundRect">
                <a:avLst>
                  <a:gd name="adj" fmla="val 18669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 w="7620">
                <a:solidFill>
                  <a:srgbClr val="C0C1D7"/>
                </a:solidFill>
                <a:prstDash val="solid"/>
              </a:ln>
            </p:spPr>
          </p:sp>
          <p:sp>
            <p:nvSpPr>
              <p:cNvPr id="13" name="Text 10"/>
              <p:cNvSpPr/>
              <p:nvPr/>
            </p:nvSpPr>
            <p:spPr>
              <a:xfrm>
                <a:off x="944166" y="5092779"/>
                <a:ext cx="209431" cy="34028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650"/>
                  </a:lnSpc>
                  <a:buNone/>
                </a:pPr>
                <a:r>
                  <a:rPr lang="en-US" sz="2650" b="1" kern="0" spc="-80" dirty="0">
                    <a:solidFill>
                      <a:schemeClr val="bg1"/>
                    </a:solidFill>
                    <a:latin typeface="Inter Bold" pitchFamily="34" charset="0"/>
                    <a:ea typeface="Inter Bold" pitchFamily="34" charset="-122"/>
                    <a:cs typeface="Inter Bold" pitchFamily="34" charset="-120"/>
                  </a:rPr>
                  <a:t>3</a:t>
                </a:r>
                <a:endParaRPr lang="en-US" sz="265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4" name="Text 11"/>
            <p:cNvSpPr/>
            <p:nvPr/>
          </p:nvSpPr>
          <p:spPr>
            <a:xfrm>
              <a:off x="1530906" y="5007769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750"/>
                </a:lnSpc>
                <a:buNone/>
              </a:pPr>
              <a:r>
                <a:rPr lang="en-US" sz="2200" b="1" kern="0" spc="-67" dirty="0">
                  <a:solidFill>
                    <a:srgbClr val="272525"/>
                  </a:solidFill>
                  <a:latin typeface="Poppins" panose="00000500000000000000" pitchFamily="2" charset="0"/>
                  <a:ea typeface="Inter Bold" pitchFamily="34" charset="-122"/>
                  <a:cs typeface="Poppins" panose="00000500000000000000" pitchFamily="2" charset="0"/>
                </a:rPr>
                <a:t>Marketing</a:t>
              </a:r>
              <a:endParaRPr lang="en-US" sz="22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5" name="Text 12"/>
            <p:cNvSpPr/>
            <p:nvPr/>
          </p:nvSpPr>
          <p:spPr>
            <a:xfrm>
              <a:off x="1530906" y="5498187"/>
              <a:ext cx="6819305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850"/>
                </a:lnSpc>
                <a:buNone/>
              </a:pPr>
              <a:r>
                <a:rPr lang="en-US" sz="1750" kern="0" spc="-36" dirty="0">
                  <a:solidFill>
                    <a:srgbClr val="272525"/>
                  </a:solidFill>
                  <a:latin typeface="Poppins" panose="00000500000000000000" pitchFamily="2" charset="0"/>
                  <a:ea typeface="Inter" pitchFamily="34" charset="-122"/>
                  <a:cs typeface="Poppins" panose="00000500000000000000" pitchFamily="2" charset="0"/>
                </a:rPr>
                <a:t>Targeted vendor ads.</a:t>
              </a:r>
              <a:endParaRPr lang="en-US" sz="1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E2EBA50F-AC32-D3D2-DBE9-3345B496BDD4}"/>
              </a:ext>
            </a:extLst>
          </p:cNvPr>
          <p:cNvGrpSpPr/>
          <p:nvPr/>
        </p:nvGrpSpPr>
        <p:grpSpPr>
          <a:xfrm>
            <a:off x="793790" y="6343055"/>
            <a:ext cx="7556421" cy="853321"/>
            <a:chOff x="793790" y="6343055"/>
            <a:chExt cx="7556421" cy="853321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25BBC24C-C60A-96CC-DF8C-EF2C0C9AF868}"/>
                </a:ext>
              </a:extLst>
            </p:cNvPr>
            <p:cNvGrpSpPr/>
            <p:nvPr/>
          </p:nvGrpSpPr>
          <p:grpSpPr>
            <a:xfrm>
              <a:off x="793790" y="6343055"/>
              <a:ext cx="510302" cy="510302"/>
              <a:chOff x="793790" y="6343055"/>
              <a:chExt cx="510302" cy="510302"/>
            </a:xfrm>
          </p:grpSpPr>
          <p:sp>
            <p:nvSpPr>
              <p:cNvPr id="16" name="Shape 13"/>
              <p:cNvSpPr/>
              <p:nvPr/>
            </p:nvSpPr>
            <p:spPr>
              <a:xfrm>
                <a:off x="793790" y="6343055"/>
                <a:ext cx="510302" cy="510302"/>
              </a:xfrm>
              <a:prstGeom prst="roundRect">
                <a:avLst>
                  <a:gd name="adj" fmla="val 18669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 w="7620">
                <a:solidFill>
                  <a:srgbClr val="C0C1D7"/>
                </a:solidFill>
                <a:prstDash val="solid"/>
              </a:ln>
            </p:spPr>
          </p:sp>
          <p:sp>
            <p:nvSpPr>
              <p:cNvPr id="17" name="Text 14"/>
              <p:cNvSpPr/>
              <p:nvPr/>
            </p:nvSpPr>
            <p:spPr>
              <a:xfrm>
                <a:off x="938927" y="6428065"/>
                <a:ext cx="219908" cy="34028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650"/>
                  </a:lnSpc>
                  <a:buNone/>
                </a:pPr>
                <a:r>
                  <a:rPr lang="en-US" sz="2650" b="1" kern="0" spc="-80" dirty="0">
                    <a:solidFill>
                      <a:schemeClr val="bg1"/>
                    </a:solidFill>
                    <a:latin typeface="Inter Bold" pitchFamily="34" charset="0"/>
                    <a:ea typeface="Inter Bold" pitchFamily="34" charset="-122"/>
                    <a:cs typeface="Inter Bold" pitchFamily="34" charset="-120"/>
                  </a:rPr>
                  <a:t>4</a:t>
                </a:r>
                <a:endParaRPr lang="en-US" sz="265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8" name="Text 15"/>
            <p:cNvSpPr/>
            <p:nvPr/>
          </p:nvSpPr>
          <p:spPr>
            <a:xfrm>
              <a:off x="1530906" y="6343055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750"/>
                </a:lnSpc>
                <a:buNone/>
              </a:pPr>
              <a:r>
                <a:rPr lang="en-US" sz="2200" b="1" kern="0" spc="-67" dirty="0">
                  <a:solidFill>
                    <a:srgbClr val="272525"/>
                  </a:solidFill>
                  <a:latin typeface="Poppins" panose="00000500000000000000" pitchFamily="2" charset="0"/>
                  <a:ea typeface="Inter Bold" pitchFamily="34" charset="-122"/>
                  <a:cs typeface="Poppins" panose="00000500000000000000" pitchFamily="2" charset="0"/>
                </a:rPr>
                <a:t>Data Insights</a:t>
              </a:r>
              <a:endParaRPr lang="en-US" sz="22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9" name="Text 16"/>
            <p:cNvSpPr/>
            <p:nvPr/>
          </p:nvSpPr>
          <p:spPr>
            <a:xfrm>
              <a:off x="1530906" y="6833473"/>
              <a:ext cx="6819305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850"/>
                </a:lnSpc>
                <a:buNone/>
              </a:pPr>
              <a:r>
                <a:rPr lang="en-US" sz="1750" kern="0" spc="-36" dirty="0">
                  <a:solidFill>
                    <a:srgbClr val="272525"/>
                  </a:solidFill>
                  <a:latin typeface="Poppins" panose="00000500000000000000" pitchFamily="2" charset="0"/>
                  <a:ea typeface="Inter" pitchFamily="34" charset="-122"/>
                  <a:cs typeface="Poppins" panose="00000500000000000000" pitchFamily="2" charset="0"/>
                </a:rPr>
                <a:t>Monetizing user behavior data.</a:t>
              </a:r>
              <a:endParaRPr lang="en-US" sz="1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2" name="Text 0">
            <a:extLst>
              <a:ext uri="{FF2B5EF4-FFF2-40B4-BE49-F238E27FC236}">
                <a16:creationId xmlns:a16="http://schemas.microsoft.com/office/drawing/2014/main" id="{77BF88BC-4DB7-26E1-2713-EADF3B8054A9}"/>
              </a:ext>
            </a:extLst>
          </p:cNvPr>
          <p:cNvSpPr/>
          <p:nvPr/>
        </p:nvSpPr>
        <p:spPr>
          <a:xfrm>
            <a:off x="31183601" y="52041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000000"/>
                </a:solidFill>
                <a:latin typeface="Poppins" panose="00000500000000000000" pitchFamily="2" charset="0"/>
                <a:ea typeface="Inter Bold" pitchFamily="34" charset="-122"/>
                <a:cs typeface="Poppins" panose="00000500000000000000" pitchFamily="2" charset="0"/>
              </a:rPr>
              <a:t>Competitors</a:t>
            </a:r>
            <a:endParaRPr lang="en-US" sz="44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43212A3-5B6C-8E50-0F26-4644AD30FA41}"/>
              </a:ext>
            </a:extLst>
          </p:cNvPr>
          <p:cNvSpPr/>
          <p:nvPr/>
        </p:nvSpPr>
        <p:spPr>
          <a:xfrm>
            <a:off x="28168927" y="1976224"/>
            <a:ext cx="73643" cy="37736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5F0EB037-7C41-F0BD-B30B-683C0D51663E}"/>
              </a:ext>
            </a:extLst>
          </p:cNvPr>
          <p:cNvSpPr/>
          <p:nvPr/>
        </p:nvSpPr>
        <p:spPr>
          <a:xfrm>
            <a:off x="23062555" y="3277923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Wide Rental Categories</a:t>
            </a:r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E8371A37-11C5-3D44-BDF6-24D67AE98932}"/>
              </a:ext>
            </a:extLst>
          </p:cNvPr>
          <p:cNvSpPr/>
          <p:nvPr/>
        </p:nvSpPr>
        <p:spPr>
          <a:xfrm>
            <a:off x="23062555" y="2191596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Zero Commission</a:t>
            </a:r>
          </a:p>
          <a:p>
            <a:pPr>
              <a:lnSpc>
                <a:spcPts val="2750"/>
              </a:lnSpc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     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(Listing Fee Only)</a:t>
            </a:r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A59B9482-28CE-B5B7-DBFF-9BB732165C2B}"/>
              </a:ext>
            </a:extLst>
          </p:cNvPr>
          <p:cNvSpPr/>
          <p:nvPr/>
        </p:nvSpPr>
        <p:spPr>
          <a:xfrm>
            <a:off x="23086969" y="4123180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Market Coverage 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(Tier2&amp;3)</a:t>
            </a: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86157472-D277-028E-BD0E-8CBFB2370B6C}"/>
              </a:ext>
            </a:extLst>
          </p:cNvPr>
          <p:cNvSpPr/>
          <p:nvPr/>
        </p:nvSpPr>
        <p:spPr>
          <a:xfrm>
            <a:off x="23111890" y="5058169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Useful Insights to Vendors</a:t>
            </a:r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F8EA86ED-BC5D-EAE4-5108-F59B60889298}"/>
              </a:ext>
            </a:extLst>
          </p:cNvPr>
          <p:cNvSpPr/>
          <p:nvPr/>
        </p:nvSpPr>
        <p:spPr>
          <a:xfrm>
            <a:off x="28302328" y="3264069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Limited Categories</a:t>
            </a:r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8C389F7C-F09B-3B36-C2B0-E6D3BC340A25}"/>
              </a:ext>
            </a:extLst>
          </p:cNvPr>
          <p:cNvSpPr/>
          <p:nvPr/>
        </p:nvSpPr>
        <p:spPr>
          <a:xfrm>
            <a:off x="28302328" y="2177742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Commission Based</a:t>
            </a:r>
          </a:p>
          <a:p>
            <a:pPr>
              <a:lnSpc>
                <a:spcPts val="2750"/>
              </a:lnSpc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     &amp;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  </a:t>
            </a: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Own Inventory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C28142A5-82E8-B152-C384-D4FE53274C61}"/>
              </a:ext>
            </a:extLst>
          </p:cNvPr>
          <p:cNvSpPr/>
          <p:nvPr/>
        </p:nvSpPr>
        <p:spPr>
          <a:xfrm>
            <a:off x="28326742" y="4109326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Mostly Present in Tier 1 </a:t>
            </a:r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4348E844-502D-1B1E-DC4A-EE07288E5C83}"/>
              </a:ext>
            </a:extLst>
          </p:cNvPr>
          <p:cNvSpPr/>
          <p:nvPr/>
        </p:nvSpPr>
        <p:spPr>
          <a:xfrm>
            <a:off x="28351663" y="5044315"/>
            <a:ext cx="5307753" cy="501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No User Feedback</a:t>
            </a:r>
          </a:p>
        </p:txBody>
      </p:sp>
      <p:sp>
        <p:nvSpPr>
          <p:cNvPr id="41" name="Text 0">
            <a:extLst>
              <a:ext uri="{FF2B5EF4-FFF2-40B4-BE49-F238E27FC236}">
                <a16:creationId xmlns:a16="http://schemas.microsoft.com/office/drawing/2014/main" id="{1E460A75-64A0-CED4-FFA4-56405E0E115F}"/>
              </a:ext>
            </a:extLst>
          </p:cNvPr>
          <p:cNvSpPr/>
          <p:nvPr/>
        </p:nvSpPr>
        <p:spPr>
          <a:xfrm>
            <a:off x="5916731" y="9747061"/>
            <a:ext cx="27969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2800" b="1" kern="0" spc="-134" dirty="0">
                <a:solidFill>
                  <a:srgbClr val="000000"/>
                </a:solidFill>
                <a:latin typeface="Poppins" panose="00000500000000000000" pitchFamily="2" charset="0"/>
                <a:ea typeface="Inter Bold" pitchFamily="34" charset="-122"/>
                <a:cs typeface="Poppins" panose="00000500000000000000" pitchFamily="2" charset="0"/>
              </a:rPr>
              <a:t>Market Analysis</a:t>
            </a: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ABBB4C7B-BD19-7DC8-E4F3-44C190DCE5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144947"/>
              </p:ext>
            </p:extLst>
          </p:nvPr>
        </p:nvGraphicFramePr>
        <p:xfrm>
          <a:off x="3228984" y="13912632"/>
          <a:ext cx="7686178" cy="5177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3089">
                  <a:extLst>
                    <a:ext uri="{9D8B030D-6E8A-4147-A177-3AD203B41FA5}">
                      <a16:colId xmlns:a16="http://schemas.microsoft.com/office/drawing/2014/main" val="982562935"/>
                    </a:ext>
                  </a:extLst>
                </a:gridCol>
                <a:gridCol w="3843089">
                  <a:extLst>
                    <a:ext uri="{9D8B030D-6E8A-4147-A177-3AD203B41FA5}">
                      <a16:colId xmlns:a16="http://schemas.microsoft.com/office/drawing/2014/main" val="4245441938"/>
                    </a:ext>
                  </a:extLst>
                </a:gridCol>
              </a:tblGrid>
              <a:tr h="1294342">
                <a:tc>
                  <a:txBody>
                    <a:bodyPr/>
                    <a:lstStyle/>
                    <a:p>
                      <a:pPr algn="ctr"/>
                      <a:endParaRPr lang="en-GB" sz="3600" dirty="0">
                        <a:solidFill>
                          <a:sysClr val="windowText" lastClr="000000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300923" marR="300923" marT="150462" marB="150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Turnover</a:t>
                      </a:r>
                    </a:p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(Approx.)</a:t>
                      </a:r>
                    </a:p>
                  </a:txBody>
                  <a:tcPr marL="300923" marR="300923" marT="150462" marB="150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107559"/>
                  </a:ext>
                </a:extLst>
              </a:tr>
              <a:tr h="1294342">
                <a:tc>
                  <a:txBody>
                    <a:bodyPr/>
                    <a:lstStyle/>
                    <a:p>
                      <a:endParaRPr lang="en-GB" sz="48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300923" marR="300923" marT="150462" marB="150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269cr</a:t>
                      </a:r>
                    </a:p>
                  </a:txBody>
                  <a:tcPr marL="300923" marR="300923" marT="150462" marB="150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4334011"/>
                  </a:ext>
                </a:extLst>
              </a:tr>
              <a:tr h="1294342">
                <a:tc>
                  <a:txBody>
                    <a:bodyPr/>
                    <a:lstStyle/>
                    <a:p>
                      <a:endParaRPr lang="en-GB" sz="48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300923" marR="300923" marT="150462" marB="150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95cr</a:t>
                      </a:r>
                    </a:p>
                  </a:txBody>
                  <a:tcPr marL="300923" marR="300923" marT="150462" marB="150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2252"/>
                  </a:ext>
                </a:extLst>
              </a:tr>
              <a:tr h="1294342">
                <a:tc>
                  <a:txBody>
                    <a:bodyPr/>
                    <a:lstStyle/>
                    <a:p>
                      <a:endParaRPr lang="en-GB" sz="48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300923" marR="300923" marT="150462" marB="150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193cr</a:t>
                      </a:r>
                    </a:p>
                  </a:txBody>
                  <a:tcPr marL="300923" marR="300923" marT="150462" marB="150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858733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a16:creationId xmlns:a16="http://schemas.microsoft.com/office/drawing/2014/main" id="{634EEB91-4119-74DC-8F7C-E060CE93CE9C}"/>
              </a:ext>
            </a:extLst>
          </p:cNvPr>
          <p:cNvGrpSpPr/>
          <p:nvPr/>
        </p:nvGrpSpPr>
        <p:grpSpPr>
          <a:xfrm>
            <a:off x="3689723" y="15388456"/>
            <a:ext cx="2758494" cy="3314734"/>
            <a:chOff x="3689723" y="3457727"/>
            <a:chExt cx="2758494" cy="3314734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CCE2634C-0BD6-6A31-2799-CF04E34817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5110" y="3457727"/>
              <a:ext cx="2507721" cy="923897"/>
            </a:xfrm>
            <a:prstGeom prst="rect">
              <a:avLst/>
            </a:prstGeom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81EEB5B8-6FCF-7BE0-3A3E-F1949E1F42B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896679" y="4956150"/>
              <a:ext cx="2311519" cy="508026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2E902AF4-AA7F-B2F1-1587-B882604E97A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56254" b="16202"/>
            <a:stretch/>
          </p:blipFill>
          <p:spPr>
            <a:xfrm>
              <a:off x="3689723" y="6012680"/>
              <a:ext cx="2758494" cy="759781"/>
            </a:xfrm>
            <a:prstGeom prst="rect">
              <a:avLst/>
            </a:prstGeom>
          </p:spPr>
        </p:pic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6821A38A-0F07-697F-888C-AFBAE0274DD6}"/>
              </a:ext>
            </a:extLst>
          </p:cNvPr>
          <p:cNvSpPr txBox="1"/>
          <p:nvPr/>
        </p:nvSpPr>
        <p:spPr>
          <a:xfrm>
            <a:off x="3795582" y="14126937"/>
            <a:ext cx="2668798" cy="641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b="1" dirty="0">
                <a:latin typeface="Poppins" panose="00000500000000000000" pitchFamily="2" charset="0"/>
                <a:cs typeface="Poppins" panose="00000500000000000000" pitchFamily="2" charset="0"/>
              </a:rPr>
              <a:t>Company</a:t>
            </a:r>
            <a:endParaRPr lang="en-GB" sz="3600" b="1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E009C-A797-3B19-E4E3-9CB3FAC13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0">
            <a:extLst>
              <a:ext uri="{FF2B5EF4-FFF2-40B4-BE49-F238E27FC236}">
                <a16:creationId xmlns:a16="http://schemas.microsoft.com/office/drawing/2014/main" id="{C24C821C-1712-5169-A954-128B27414650}"/>
              </a:ext>
            </a:extLst>
          </p:cNvPr>
          <p:cNvSpPr/>
          <p:nvPr/>
        </p:nvSpPr>
        <p:spPr>
          <a:xfrm>
            <a:off x="5116962" y="2074763"/>
            <a:ext cx="4306498" cy="653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000000"/>
                </a:solidFill>
                <a:latin typeface="Poppins" panose="00000500000000000000" pitchFamily="2" charset="0"/>
                <a:ea typeface="Inter Bold" pitchFamily="34" charset="-122"/>
                <a:cs typeface="Poppins" panose="00000500000000000000" pitchFamily="2" charset="0"/>
              </a:rPr>
              <a:t>Business Model </a:t>
            </a:r>
            <a:endParaRPr lang="en-US" sz="44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1DC28995-2165-BA84-4887-510DAD9F3D80}"/>
              </a:ext>
            </a:extLst>
          </p:cNvPr>
          <p:cNvGrpSpPr/>
          <p:nvPr/>
        </p:nvGrpSpPr>
        <p:grpSpPr>
          <a:xfrm rot="14424661">
            <a:off x="5032713" y="2413516"/>
            <a:ext cx="4564975" cy="4564975"/>
            <a:chOff x="5032653" y="2413516"/>
            <a:chExt cx="4564975" cy="4564975"/>
          </a:xfrm>
        </p:grpSpPr>
        <p:pic>
          <p:nvPicPr>
            <p:cNvPr id="92" name="Image 0">
              <a:extLst>
                <a:ext uri="{FF2B5EF4-FFF2-40B4-BE49-F238E27FC236}">
                  <a16:creationId xmlns:a16="http://schemas.microsoft.com/office/drawing/2014/main" id="{E90195B9-65CB-B328-A03E-09B03B53D6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tx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5032653" y="2413516"/>
              <a:ext cx="4564975" cy="4564975"/>
            </a:xfrm>
            <a:prstGeom prst="rect">
              <a:avLst/>
            </a:prstGeom>
          </p:spPr>
        </p:pic>
        <p:sp>
          <p:nvSpPr>
            <p:cNvPr id="93" name="Text 3">
              <a:extLst>
                <a:ext uri="{FF2B5EF4-FFF2-40B4-BE49-F238E27FC236}">
                  <a16:creationId xmlns:a16="http://schemas.microsoft.com/office/drawing/2014/main" id="{7C89832B-A439-E376-F60C-C1E939FC01C4}"/>
                </a:ext>
              </a:extLst>
            </p:cNvPr>
            <p:cNvSpPr/>
            <p:nvPr/>
          </p:nvSpPr>
          <p:spPr>
            <a:xfrm>
              <a:off x="5684163" y="4194453"/>
              <a:ext cx="113705" cy="45350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ts val="3550"/>
                </a:lnSpc>
                <a:buNone/>
              </a:pPr>
              <a:r>
                <a:rPr lang="en-US" sz="2200" b="1" kern="0" spc="-67" dirty="0">
                  <a:solidFill>
                    <a:schemeClr val="bg1"/>
                  </a:solidFill>
                  <a:latin typeface="Poppins" panose="00000500000000000000" pitchFamily="2" charset="0"/>
                  <a:ea typeface="Inter Bold" pitchFamily="34" charset="-122"/>
                  <a:cs typeface="Poppins" panose="00000500000000000000" pitchFamily="2" charset="0"/>
                </a:rPr>
                <a:t>1</a:t>
              </a:r>
              <a:endParaRPr lang="en-US" sz="2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94" name="Image 1">
              <a:extLst>
                <a:ext uri="{FF2B5EF4-FFF2-40B4-BE49-F238E27FC236}">
                  <a16:creationId xmlns:a16="http://schemas.microsoft.com/office/drawing/2014/main" id="{D7F98A31-2F1C-C2DE-8F8C-DA29737EB5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5032653" y="2413516"/>
              <a:ext cx="4564975" cy="4564975"/>
            </a:xfrm>
            <a:prstGeom prst="rect">
              <a:avLst/>
            </a:prstGeom>
          </p:spPr>
        </p:pic>
        <p:sp>
          <p:nvSpPr>
            <p:cNvPr id="95" name="Text 6">
              <a:extLst>
                <a:ext uri="{FF2B5EF4-FFF2-40B4-BE49-F238E27FC236}">
                  <a16:creationId xmlns:a16="http://schemas.microsoft.com/office/drawing/2014/main" id="{1DDCF06E-A3E3-7312-8AEA-416FD49EAAB8}"/>
                </a:ext>
              </a:extLst>
            </p:cNvPr>
            <p:cNvSpPr/>
            <p:nvPr/>
          </p:nvSpPr>
          <p:spPr>
            <a:xfrm>
              <a:off x="8254960" y="3243382"/>
              <a:ext cx="169902" cy="45350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ts val="3550"/>
                </a:lnSpc>
                <a:buNone/>
              </a:pPr>
              <a:r>
                <a:rPr lang="en-US" sz="2200" b="1" kern="0" spc="-67" dirty="0">
                  <a:solidFill>
                    <a:schemeClr val="bg1"/>
                  </a:solidFill>
                  <a:latin typeface="Poppins" panose="00000500000000000000" pitchFamily="2" charset="0"/>
                  <a:ea typeface="Inter Bold" pitchFamily="34" charset="-122"/>
                  <a:cs typeface="Poppins" panose="00000500000000000000" pitchFamily="2" charset="0"/>
                </a:rPr>
                <a:t>2</a:t>
              </a:r>
              <a:endParaRPr lang="en-US" sz="2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96" name="Image 2">
              <a:extLst>
                <a:ext uri="{FF2B5EF4-FFF2-40B4-BE49-F238E27FC236}">
                  <a16:creationId xmlns:a16="http://schemas.microsoft.com/office/drawing/2014/main" id="{CCC624DA-ED5D-FA02-BA4D-30AEC198738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5032653" y="2413516"/>
              <a:ext cx="4564975" cy="4564975"/>
            </a:xfrm>
            <a:prstGeom prst="rect">
              <a:avLst/>
            </a:prstGeom>
          </p:spPr>
        </p:pic>
        <p:sp>
          <p:nvSpPr>
            <p:cNvPr id="97" name="Text 9">
              <a:extLst>
                <a:ext uri="{FF2B5EF4-FFF2-40B4-BE49-F238E27FC236}">
                  <a16:creationId xmlns:a16="http://schemas.microsoft.com/office/drawing/2014/main" id="{4F902D64-7F5A-1A7A-385A-407E1A625AD1}"/>
                </a:ext>
              </a:extLst>
            </p:cNvPr>
            <p:cNvSpPr/>
            <p:nvPr/>
          </p:nvSpPr>
          <p:spPr>
            <a:xfrm>
              <a:off x="7776924" y="5969556"/>
              <a:ext cx="174427" cy="45350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ts val="3550"/>
                </a:lnSpc>
                <a:buNone/>
              </a:pPr>
              <a:r>
                <a:rPr lang="en-US" sz="2200" b="1" kern="0" spc="-67" dirty="0">
                  <a:solidFill>
                    <a:schemeClr val="bg1"/>
                  </a:solidFill>
                  <a:latin typeface="Poppins" panose="00000500000000000000" pitchFamily="2" charset="0"/>
                  <a:ea typeface="Inter Bold" pitchFamily="34" charset="-122"/>
                  <a:cs typeface="Poppins" panose="00000500000000000000" pitchFamily="2" charset="0"/>
                </a:rPr>
                <a:t>3</a:t>
              </a:r>
              <a:endParaRPr lang="en-US" sz="2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04A304B1-D13F-BE26-9FB8-D2DDBF86BA64}"/>
              </a:ext>
            </a:extLst>
          </p:cNvPr>
          <p:cNvSpPr/>
          <p:nvPr/>
        </p:nvSpPr>
        <p:spPr>
          <a:xfrm>
            <a:off x="12743411" y="7689273"/>
            <a:ext cx="1828800" cy="473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AA79A65-EEC1-7AD7-20AE-94436F9761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265" y="-5220175"/>
            <a:ext cx="2539538" cy="935619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E90716A4-16F2-286D-7A5D-614EFD14CD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74354" y="-7978730"/>
            <a:ext cx="2961449" cy="5651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54CCBBD-406E-1C99-1737-CD7698EB97E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8079" y="-5635262"/>
            <a:ext cx="1765795" cy="17657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99D5AFD-CCF6-3A8D-CCBE-0A290315275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30225" y="-8615447"/>
            <a:ext cx="2081504" cy="208150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9BA3A81-34B7-7E62-39A0-C30E5EF65754}"/>
              </a:ext>
            </a:extLst>
          </p:cNvPr>
          <p:cNvSpPr/>
          <p:nvPr/>
        </p:nvSpPr>
        <p:spPr>
          <a:xfrm>
            <a:off x="1219199" y="-9947931"/>
            <a:ext cx="5735701" cy="736270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58041FF-14D5-CAC9-D2E3-081E55A7B24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3253" r="3253"/>
          <a:stretch/>
        </p:blipFill>
        <p:spPr>
          <a:xfrm>
            <a:off x="9942507" y="-8572000"/>
            <a:ext cx="3015893" cy="6272551"/>
          </a:xfrm>
          <a:prstGeom prst="roundRect">
            <a:avLst>
              <a:gd name="adj" fmla="val 19024"/>
            </a:avLst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1A9D333-1785-46FD-EF12-4514E5DEA870}"/>
              </a:ext>
            </a:extLst>
          </p:cNvPr>
          <p:cNvSpPr txBox="1"/>
          <p:nvPr/>
        </p:nvSpPr>
        <p:spPr>
          <a:xfrm>
            <a:off x="10367732" y="-9839742"/>
            <a:ext cx="26949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b="1" spc="600" dirty="0">
                <a:latin typeface="Poppins" panose="00000500000000000000" pitchFamily="2" charset="0"/>
                <a:cs typeface="Poppins" panose="00000500000000000000" pitchFamily="2" charset="0"/>
              </a:rPr>
              <a:t>LEEZ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6459D9-7239-4D4E-D48B-3A024BFC4AEA}"/>
              </a:ext>
            </a:extLst>
          </p:cNvPr>
          <p:cNvSpPr txBox="1"/>
          <p:nvPr/>
        </p:nvSpPr>
        <p:spPr>
          <a:xfrm>
            <a:off x="10430475" y="-9087222"/>
            <a:ext cx="223271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latin typeface="Poppins" panose="00000500000000000000" pitchFamily="2" charset="0"/>
                <a:cs typeface="Poppins" panose="00000500000000000000" pitchFamily="2" charset="0"/>
              </a:rPr>
              <a:t>One stop</a:t>
            </a:r>
            <a:r>
              <a:rPr lang="en-GB" sz="1000" dirty="0">
                <a:latin typeface="Poppins" panose="00000500000000000000" pitchFamily="2" charset="0"/>
                <a:cs typeface="Poppins" panose="00000500000000000000" pitchFamily="2" charset="0"/>
              </a:rPr>
              <a:t> Rental Marketplace</a:t>
            </a:r>
          </a:p>
        </p:txBody>
      </p:sp>
      <p:sp>
        <p:nvSpPr>
          <p:cNvPr id="18" name="Text 0">
            <a:extLst>
              <a:ext uri="{FF2B5EF4-FFF2-40B4-BE49-F238E27FC236}">
                <a16:creationId xmlns:a16="http://schemas.microsoft.com/office/drawing/2014/main" id="{35D3148D-E295-9152-E124-263CFCA5AEAF}"/>
              </a:ext>
            </a:extLst>
          </p:cNvPr>
          <p:cNvSpPr/>
          <p:nvPr/>
        </p:nvSpPr>
        <p:spPr>
          <a:xfrm>
            <a:off x="793790" y="-924139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000000"/>
                </a:solidFill>
                <a:latin typeface="Poppins" panose="00000500000000000000" pitchFamily="2" charset="0"/>
                <a:ea typeface="Inter Bold" pitchFamily="34" charset="-122"/>
                <a:cs typeface="Poppins" panose="00000500000000000000" pitchFamily="2" charset="0"/>
              </a:rPr>
              <a:t>Revenue Streams</a:t>
            </a:r>
            <a:endParaRPr lang="en-US" sz="44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ACB9E4B-3BEB-D7DB-7357-9E1E30EA7370}"/>
              </a:ext>
            </a:extLst>
          </p:cNvPr>
          <p:cNvGrpSpPr/>
          <p:nvPr/>
        </p:nvGrpSpPr>
        <p:grpSpPr>
          <a:xfrm>
            <a:off x="793790" y="-7937305"/>
            <a:ext cx="7556421" cy="853321"/>
            <a:chOff x="793790" y="2337197"/>
            <a:chExt cx="7556421" cy="853321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2BAAEAC-F44E-6FDD-483F-1CD1FCCAA2F1}"/>
                </a:ext>
              </a:extLst>
            </p:cNvPr>
            <p:cNvGrpSpPr/>
            <p:nvPr/>
          </p:nvGrpSpPr>
          <p:grpSpPr>
            <a:xfrm>
              <a:off x="793790" y="2337197"/>
              <a:ext cx="510302" cy="510302"/>
              <a:chOff x="793790" y="2337197"/>
              <a:chExt cx="510302" cy="510302"/>
            </a:xfrm>
          </p:grpSpPr>
          <p:sp>
            <p:nvSpPr>
              <p:cNvPr id="23" name="Shape 1">
                <a:extLst>
                  <a:ext uri="{FF2B5EF4-FFF2-40B4-BE49-F238E27FC236}">
                    <a16:creationId xmlns:a16="http://schemas.microsoft.com/office/drawing/2014/main" id="{BB72CF02-FA07-8CE3-6224-9D5E9AA5829F}"/>
                  </a:ext>
                </a:extLst>
              </p:cNvPr>
              <p:cNvSpPr/>
              <p:nvPr/>
            </p:nvSpPr>
            <p:spPr>
              <a:xfrm>
                <a:off x="793790" y="2337197"/>
                <a:ext cx="510302" cy="510302"/>
              </a:xfrm>
              <a:prstGeom prst="roundRect">
                <a:avLst>
                  <a:gd name="adj" fmla="val 18669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 w="7620">
                <a:solidFill>
                  <a:srgbClr val="C0C1D7"/>
                </a:solidFill>
                <a:prstDash val="solid"/>
              </a:ln>
            </p:spPr>
          </p:sp>
          <p:sp>
            <p:nvSpPr>
              <p:cNvPr id="24" name="Text 2">
                <a:extLst>
                  <a:ext uri="{FF2B5EF4-FFF2-40B4-BE49-F238E27FC236}">
                    <a16:creationId xmlns:a16="http://schemas.microsoft.com/office/drawing/2014/main" id="{A529A051-541C-01EF-BBD7-CF5BA6C4963A}"/>
                  </a:ext>
                </a:extLst>
              </p:cNvPr>
              <p:cNvSpPr/>
              <p:nvPr/>
            </p:nvSpPr>
            <p:spPr>
              <a:xfrm>
                <a:off x="980599" y="2422208"/>
                <a:ext cx="136565" cy="34028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650"/>
                  </a:lnSpc>
                  <a:buNone/>
                </a:pPr>
                <a:r>
                  <a:rPr lang="en-US" sz="2650" b="1" kern="0" spc="-80" dirty="0">
                    <a:solidFill>
                      <a:schemeClr val="bg1"/>
                    </a:solidFill>
                    <a:latin typeface="Inter Bold" pitchFamily="34" charset="0"/>
                    <a:ea typeface="Inter Bold" pitchFamily="34" charset="-122"/>
                    <a:cs typeface="Inter Bold" pitchFamily="34" charset="-120"/>
                  </a:rPr>
                  <a:t>1</a:t>
                </a:r>
                <a:endParaRPr lang="en-US" sz="265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1" name="Text 3">
              <a:extLst>
                <a:ext uri="{FF2B5EF4-FFF2-40B4-BE49-F238E27FC236}">
                  <a16:creationId xmlns:a16="http://schemas.microsoft.com/office/drawing/2014/main" id="{79CB8EF5-7512-04C6-9236-4C6ECB0107C6}"/>
                </a:ext>
              </a:extLst>
            </p:cNvPr>
            <p:cNvSpPr/>
            <p:nvPr/>
          </p:nvSpPr>
          <p:spPr>
            <a:xfrm>
              <a:off x="1530906" y="2337197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750"/>
                </a:lnSpc>
                <a:buNone/>
              </a:pPr>
              <a:r>
                <a:rPr lang="en-US" sz="2200" b="1" kern="0" spc="-67" dirty="0">
                  <a:solidFill>
                    <a:srgbClr val="272525"/>
                  </a:solidFill>
                  <a:latin typeface="Poppins" panose="00000500000000000000" pitchFamily="2" charset="0"/>
                  <a:ea typeface="Inter Bold" pitchFamily="34" charset="-122"/>
                  <a:cs typeface="Poppins" panose="00000500000000000000" pitchFamily="2" charset="0"/>
                </a:rPr>
                <a:t>Listing Fees</a:t>
              </a:r>
              <a:endParaRPr lang="en-US" sz="22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2" name="Text 4">
              <a:extLst>
                <a:ext uri="{FF2B5EF4-FFF2-40B4-BE49-F238E27FC236}">
                  <a16:creationId xmlns:a16="http://schemas.microsoft.com/office/drawing/2014/main" id="{A8F13469-873A-6178-8CC2-9182CA21C38A}"/>
                </a:ext>
              </a:extLst>
            </p:cNvPr>
            <p:cNvSpPr/>
            <p:nvPr/>
          </p:nvSpPr>
          <p:spPr>
            <a:xfrm>
              <a:off x="1530906" y="2827615"/>
              <a:ext cx="6819305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850"/>
                </a:lnSpc>
                <a:buNone/>
              </a:pPr>
              <a:r>
                <a:rPr lang="en-US" sz="1750" kern="0" spc="-36" dirty="0">
                  <a:solidFill>
                    <a:srgbClr val="272525"/>
                  </a:solidFill>
                  <a:latin typeface="Poppins" panose="00000500000000000000" pitchFamily="2" charset="0"/>
                  <a:ea typeface="Inter" pitchFamily="34" charset="-122"/>
                  <a:cs typeface="Poppins" panose="00000500000000000000" pitchFamily="2" charset="0"/>
                </a:rPr>
                <a:t>Vendors pay to showcase products.</a:t>
              </a:r>
              <a:endParaRPr lang="en-US" sz="1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B8B797F-A3A9-34E1-B80D-0174B6BC7633}"/>
              </a:ext>
            </a:extLst>
          </p:cNvPr>
          <p:cNvGrpSpPr/>
          <p:nvPr/>
        </p:nvGrpSpPr>
        <p:grpSpPr>
          <a:xfrm>
            <a:off x="793790" y="-6602019"/>
            <a:ext cx="7556421" cy="853321"/>
            <a:chOff x="793790" y="3672483"/>
            <a:chExt cx="7556421" cy="853321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0F06D77-6730-5B7C-E4A6-116FE40A15CA}"/>
                </a:ext>
              </a:extLst>
            </p:cNvPr>
            <p:cNvGrpSpPr/>
            <p:nvPr/>
          </p:nvGrpSpPr>
          <p:grpSpPr>
            <a:xfrm>
              <a:off x="793790" y="3672483"/>
              <a:ext cx="510302" cy="510302"/>
              <a:chOff x="793790" y="3672483"/>
              <a:chExt cx="510302" cy="510302"/>
            </a:xfrm>
          </p:grpSpPr>
          <p:sp>
            <p:nvSpPr>
              <p:cNvPr id="29" name="Shape 5">
                <a:extLst>
                  <a:ext uri="{FF2B5EF4-FFF2-40B4-BE49-F238E27FC236}">
                    <a16:creationId xmlns:a16="http://schemas.microsoft.com/office/drawing/2014/main" id="{EBEFBF60-923B-4527-74FB-895E7D6DE4DE}"/>
                  </a:ext>
                </a:extLst>
              </p:cNvPr>
              <p:cNvSpPr/>
              <p:nvPr/>
            </p:nvSpPr>
            <p:spPr>
              <a:xfrm>
                <a:off x="793790" y="3672483"/>
                <a:ext cx="510302" cy="510302"/>
              </a:xfrm>
              <a:prstGeom prst="roundRect">
                <a:avLst>
                  <a:gd name="adj" fmla="val 18669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 w="7620">
                <a:solidFill>
                  <a:srgbClr val="C0C1D7"/>
                </a:solidFill>
                <a:prstDash val="solid"/>
              </a:ln>
            </p:spPr>
          </p:sp>
          <p:sp>
            <p:nvSpPr>
              <p:cNvPr id="30" name="Text 6">
                <a:extLst>
                  <a:ext uri="{FF2B5EF4-FFF2-40B4-BE49-F238E27FC236}">
                    <a16:creationId xmlns:a16="http://schemas.microsoft.com/office/drawing/2014/main" id="{470F94A9-8549-FF55-BE51-1FD6DB44F13A}"/>
                  </a:ext>
                </a:extLst>
              </p:cNvPr>
              <p:cNvSpPr/>
              <p:nvPr/>
            </p:nvSpPr>
            <p:spPr>
              <a:xfrm>
                <a:off x="946904" y="3757493"/>
                <a:ext cx="203954" cy="34028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650"/>
                  </a:lnSpc>
                  <a:buNone/>
                </a:pPr>
                <a:r>
                  <a:rPr lang="en-US" sz="2650" b="1" kern="0" spc="-80" dirty="0">
                    <a:solidFill>
                      <a:schemeClr val="bg1"/>
                    </a:solidFill>
                    <a:latin typeface="Inter Bold" pitchFamily="34" charset="0"/>
                    <a:ea typeface="Inter Bold" pitchFamily="34" charset="-122"/>
                    <a:cs typeface="Inter Bold" pitchFamily="34" charset="-120"/>
                  </a:rPr>
                  <a:t>2</a:t>
                </a:r>
                <a:endParaRPr lang="en-US" sz="265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7" name="Text 7">
              <a:extLst>
                <a:ext uri="{FF2B5EF4-FFF2-40B4-BE49-F238E27FC236}">
                  <a16:creationId xmlns:a16="http://schemas.microsoft.com/office/drawing/2014/main" id="{AF906ED8-177C-EEAB-3448-0D079DEF048B}"/>
                </a:ext>
              </a:extLst>
            </p:cNvPr>
            <p:cNvSpPr/>
            <p:nvPr/>
          </p:nvSpPr>
          <p:spPr>
            <a:xfrm>
              <a:off x="1530906" y="3672483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750"/>
                </a:lnSpc>
                <a:buNone/>
              </a:pPr>
              <a:r>
                <a:rPr lang="en-US" sz="2200" b="1" kern="0" spc="-67" dirty="0">
                  <a:solidFill>
                    <a:srgbClr val="272525"/>
                  </a:solidFill>
                  <a:latin typeface="Poppins" panose="00000500000000000000" pitchFamily="2" charset="0"/>
                  <a:ea typeface="Inter Bold" pitchFamily="34" charset="-122"/>
                  <a:cs typeface="Poppins" panose="00000500000000000000" pitchFamily="2" charset="0"/>
                </a:rPr>
                <a:t>Featured Listings</a:t>
              </a:r>
              <a:endParaRPr lang="en-US" sz="22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8" name="Text 8">
              <a:extLst>
                <a:ext uri="{FF2B5EF4-FFF2-40B4-BE49-F238E27FC236}">
                  <a16:creationId xmlns:a16="http://schemas.microsoft.com/office/drawing/2014/main" id="{40EBE61D-CB3A-ACAE-E6F9-BF7479193A80}"/>
                </a:ext>
              </a:extLst>
            </p:cNvPr>
            <p:cNvSpPr/>
            <p:nvPr/>
          </p:nvSpPr>
          <p:spPr>
            <a:xfrm>
              <a:off x="1530906" y="4162901"/>
              <a:ext cx="6819305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850"/>
                </a:lnSpc>
                <a:buNone/>
              </a:pPr>
              <a:r>
                <a:rPr lang="en-US" sz="1750" kern="0" spc="-36" dirty="0">
                  <a:solidFill>
                    <a:srgbClr val="272525"/>
                  </a:solidFill>
                  <a:latin typeface="Poppins" panose="00000500000000000000" pitchFamily="2" charset="0"/>
                  <a:ea typeface="Inter" pitchFamily="34" charset="-122"/>
                  <a:cs typeface="Poppins" panose="00000500000000000000" pitchFamily="2" charset="0"/>
                </a:rPr>
                <a:t>Top placements for vendors.</a:t>
              </a:r>
              <a:endParaRPr lang="en-US" sz="1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3FAD2CA-7284-DBD8-4599-9562E2AEE8F9}"/>
              </a:ext>
            </a:extLst>
          </p:cNvPr>
          <p:cNvGrpSpPr/>
          <p:nvPr/>
        </p:nvGrpSpPr>
        <p:grpSpPr>
          <a:xfrm>
            <a:off x="793790" y="-5266733"/>
            <a:ext cx="7556421" cy="853321"/>
            <a:chOff x="793790" y="5007769"/>
            <a:chExt cx="7556421" cy="853321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556F36C9-E3EC-333D-ABA5-11E6E617DC94}"/>
                </a:ext>
              </a:extLst>
            </p:cNvPr>
            <p:cNvGrpSpPr/>
            <p:nvPr/>
          </p:nvGrpSpPr>
          <p:grpSpPr>
            <a:xfrm>
              <a:off x="793790" y="5007769"/>
              <a:ext cx="510302" cy="510302"/>
              <a:chOff x="793790" y="5007769"/>
              <a:chExt cx="510302" cy="510302"/>
            </a:xfrm>
          </p:grpSpPr>
          <p:sp>
            <p:nvSpPr>
              <p:cNvPr id="35" name="Shape 9">
                <a:extLst>
                  <a:ext uri="{FF2B5EF4-FFF2-40B4-BE49-F238E27FC236}">
                    <a16:creationId xmlns:a16="http://schemas.microsoft.com/office/drawing/2014/main" id="{7425A1DC-D977-17A9-73C3-31F71830DBFC}"/>
                  </a:ext>
                </a:extLst>
              </p:cNvPr>
              <p:cNvSpPr/>
              <p:nvPr/>
            </p:nvSpPr>
            <p:spPr>
              <a:xfrm>
                <a:off x="793790" y="5007769"/>
                <a:ext cx="510302" cy="510302"/>
              </a:xfrm>
              <a:prstGeom prst="roundRect">
                <a:avLst>
                  <a:gd name="adj" fmla="val 18669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 w="7620">
                <a:solidFill>
                  <a:srgbClr val="C0C1D7"/>
                </a:solidFill>
                <a:prstDash val="solid"/>
              </a:ln>
            </p:spPr>
          </p:sp>
          <p:sp>
            <p:nvSpPr>
              <p:cNvPr id="36" name="Text 10">
                <a:extLst>
                  <a:ext uri="{FF2B5EF4-FFF2-40B4-BE49-F238E27FC236}">
                    <a16:creationId xmlns:a16="http://schemas.microsoft.com/office/drawing/2014/main" id="{97B72DE1-E1D4-DF69-2490-E5A80E88E3B9}"/>
                  </a:ext>
                </a:extLst>
              </p:cNvPr>
              <p:cNvSpPr/>
              <p:nvPr/>
            </p:nvSpPr>
            <p:spPr>
              <a:xfrm>
                <a:off x="944166" y="5092779"/>
                <a:ext cx="209431" cy="34028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650"/>
                  </a:lnSpc>
                  <a:buNone/>
                </a:pPr>
                <a:r>
                  <a:rPr lang="en-US" sz="2650" b="1" kern="0" spc="-80" dirty="0">
                    <a:solidFill>
                      <a:schemeClr val="bg1"/>
                    </a:solidFill>
                    <a:latin typeface="Inter Bold" pitchFamily="34" charset="0"/>
                    <a:ea typeface="Inter Bold" pitchFamily="34" charset="-122"/>
                    <a:cs typeface="Inter Bold" pitchFamily="34" charset="-120"/>
                  </a:rPr>
                  <a:t>3</a:t>
                </a:r>
                <a:endParaRPr lang="en-US" sz="265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3" name="Text 11">
              <a:extLst>
                <a:ext uri="{FF2B5EF4-FFF2-40B4-BE49-F238E27FC236}">
                  <a16:creationId xmlns:a16="http://schemas.microsoft.com/office/drawing/2014/main" id="{2D966A9A-05AA-707C-A9D7-CC0725102DBA}"/>
                </a:ext>
              </a:extLst>
            </p:cNvPr>
            <p:cNvSpPr/>
            <p:nvPr/>
          </p:nvSpPr>
          <p:spPr>
            <a:xfrm>
              <a:off x="1530906" y="5007769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750"/>
                </a:lnSpc>
                <a:buNone/>
              </a:pPr>
              <a:r>
                <a:rPr lang="en-US" sz="2200" b="1" kern="0" spc="-67" dirty="0">
                  <a:solidFill>
                    <a:srgbClr val="272525"/>
                  </a:solidFill>
                  <a:latin typeface="Poppins" panose="00000500000000000000" pitchFamily="2" charset="0"/>
                  <a:ea typeface="Inter Bold" pitchFamily="34" charset="-122"/>
                  <a:cs typeface="Poppins" panose="00000500000000000000" pitchFamily="2" charset="0"/>
                </a:rPr>
                <a:t>Marketing</a:t>
              </a:r>
              <a:endParaRPr lang="en-US" sz="22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4" name="Text 12">
              <a:extLst>
                <a:ext uri="{FF2B5EF4-FFF2-40B4-BE49-F238E27FC236}">
                  <a16:creationId xmlns:a16="http://schemas.microsoft.com/office/drawing/2014/main" id="{7807745E-2D76-F46A-9A0C-44362CE9AFE5}"/>
                </a:ext>
              </a:extLst>
            </p:cNvPr>
            <p:cNvSpPr/>
            <p:nvPr/>
          </p:nvSpPr>
          <p:spPr>
            <a:xfrm>
              <a:off x="1530906" y="5498187"/>
              <a:ext cx="6819305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850"/>
                </a:lnSpc>
                <a:buNone/>
              </a:pPr>
              <a:r>
                <a:rPr lang="en-US" sz="1750" kern="0" spc="-36" dirty="0">
                  <a:solidFill>
                    <a:srgbClr val="272525"/>
                  </a:solidFill>
                  <a:latin typeface="Poppins" panose="00000500000000000000" pitchFamily="2" charset="0"/>
                  <a:ea typeface="Inter" pitchFamily="34" charset="-122"/>
                  <a:cs typeface="Poppins" panose="00000500000000000000" pitchFamily="2" charset="0"/>
                </a:rPr>
                <a:t>Targeted vendor ads.</a:t>
              </a:r>
              <a:endParaRPr lang="en-US" sz="1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6399576-55FB-1BD4-FB25-570A16DE84A1}"/>
              </a:ext>
            </a:extLst>
          </p:cNvPr>
          <p:cNvGrpSpPr/>
          <p:nvPr/>
        </p:nvGrpSpPr>
        <p:grpSpPr>
          <a:xfrm>
            <a:off x="793790" y="-3931447"/>
            <a:ext cx="7556421" cy="853321"/>
            <a:chOff x="793790" y="6343055"/>
            <a:chExt cx="7556421" cy="853321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F0D7D9E5-B2DA-FF77-6CF0-8023FDDC8E12}"/>
                </a:ext>
              </a:extLst>
            </p:cNvPr>
            <p:cNvGrpSpPr/>
            <p:nvPr/>
          </p:nvGrpSpPr>
          <p:grpSpPr>
            <a:xfrm>
              <a:off x="793790" y="6343055"/>
              <a:ext cx="510302" cy="510302"/>
              <a:chOff x="793790" y="6343055"/>
              <a:chExt cx="510302" cy="510302"/>
            </a:xfrm>
          </p:grpSpPr>
          <p:sp>
            <p:nvSpPr>
              <p:cNvPr id="41" name="Shape 13">
                <a:extLst>
                  <a:ext uri="{FF2B5EF4-FFF2-40B4-BE49-F238E27FC236}">
                    <a16:creationId xmlns:a16="http://schemas.microsoft.com/office/drawing/2014/main" id="{5CD14BD8-8123-676B-EB2E-EDA9EBA8FFAE}"/>
                  </a:ext>
                </a:extLst>
              </p:cNvPr>
              <p:cNvSpPr/>
              <p:nvPr/>
            </p:nvSpPr>
            <p:spPr>
              <a:xfrm>
                <a:off x="793790" y="6343055"/>
                <a:ext cx="510302" cy="510302"/>
              </a:xfrm>
              <a:prstGeom prst="roundRect">
                <a:avLst>
                  <a:gd name="adj" fmla="val 18669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 w="7620">
                <a:solidFill>
                  <a:srgbClr val="C0C1D7"/>
                </a:solidFill>
                <a:prstDash val="solid"/>
              </a:ln>
            </p:spPr>
          </p:sp>
          <p:sp>
            <p:nvSpPr>
              <p:cNvPr id="42" name="Text 14">
                <a:extLst>
                  <a:ext uri="{FF2B5EF4-FFF2-40B4-BE49-F238E27FC236}">
                    <a16:creationId xmlns:a16="http://schemas.microsoft.com/office/drawing/2014/main" id="{85E4B652-65C2-F06A-1724-2F950B25BB21}"/>
                  </a:ext>
                </a:extLst>
              </p:cNvPr>
              <p:cNvSpPr/>
              <p:nvPr/>
            </p:nvSpPr>
            <p:spPr>
              <a:xfrm>
                <a:off x="938927" y="6428065"/>
                <a:ext cx="219908" cy="34028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650"/>
                  </a:lnSpc>
                  <a:buNone/>
                </a:pPr>
                <a:r>
                  <a:rPr lang="en-US" sz="2650" b="1" kern="0" spc="-80" dirty="0">
                    <a:solidFill>
                      <a:schemeClr val="bg1"/>
                    </a:solidFill>
                    <a:latin typeface="Inter Bold" pitchFamily="34" charset="0"/>
                    <a:ea typeface="Inter Bold" pitchFamily="34" charset="-122"/>
                    <a:cs typeface="Inter Bold" pitchFamily="34" charset="-120"/>
                  </a:rPr>
                  <a:t>4</a:t>
                </a:r>
                <a:endParaRPr lang="en-US" sz="265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9" name="Text 15">
              <a:extLst>
                <a:ext uri="{FF2B5EF4-FFF2-40B4-BE49-F238E27FC236}">
                  <a16:creationId xmlns:a16="http://schemas.microsoft.com/office/drawing/2014/main" id="{2590CF56-E480-C5D4-AC03-A621AA03AAE0}"/>
                </a:ext>
              </a:extLst>
            </p:cNvPr>
            <p:cNvSpPr/>
            <p:nvPr/>
          </p:nvSpPr>
          <p:spPr>
            <a:xfrm>
              <a:off x="1530906" y="6343055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750"/>
                </a:lnSpc>
                <a:buNone/>
              </a:pPr>
              <a:r>
                <a:rPr lang="en-US" sz="2200" b="1" kern="0" spc="-67" dirty="0">
                  <a:solidFill>
                    <a:srgbClr val="272525"/>
                  </a:solidFill>
                  <a:latin typeface="Poppins" panose="00000500000000000000" pitchFamily="2" charset="0"/>
                  <a:ea typeface="Inter Bold" pitchFamily="34" charset="-122"/>
                  <a:cs typeface="Poppins" panose="00000500000000000000" pitchFamily="2" charset="0"/>
                </a:rPr>
                <a:t>Data Insights</a:t>
              </a:r>
              <a:endParaRPr lang="en-US" sz="22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0" name="Text 16">
              <a:extLst>
                <a:ext uri="{FF2B5EF4-FFF2-40B4-BE49-F238E27FC236}">
                  <a16:creationId xmlns:a16="http://schemas.microsoft.com/office/drawing/2014/main" id="{D9C6FBDD-7E11-E9A4-9198-685A9068EAC5}"/>
                </a:ext>
              </a:extLst>
            </p:cNvPr>
            <p:cNvSpPr/>
            <p:nvPr/>
          </p:nvSpPr>
          <p:spPr>
            <a:xfrm>
              <a:off x="1530906" y="6833473"/>
              <a:ext cx="6819305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850"/>
                </a:lnSpc>
                <a:buNone/>
              </a:pPr>
              <a:r>
                <a:rPr lang="en-US" sz="1750" kern="0" spc="-36" dirty="0">
                  <a:solidFill>
                    <a:srgbClr val="272525"/>
                  </a:solidFill>
                  <a:latin typeface="Poppins" panose="00000500000000000000" pitchFamily="2" charset="0"/>
                  <a:ea typeface="Inter" pitchFamily="34" charset="-122"/>
                  <a:cs typeface="Poppins" panose="00000500000000000000" pitchFamily="2" charset="0"/>
                </a:rPr>
                <a:t>Monetizing user behavior data.</a:t>
              </a:r>
              <a:endParaRPr lang="en-US" sz="1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7" name="Text 0">
            <a:extLst>
              <a:ext uri="{FF2B5EF4-FFF2-40B4-BE49-F238E27FC236}">
                <a16:creationId xmlns:a16="http://schemas.microsoft.com/office/drawing/2014/main" id="{C35B4A51-6384-67EA-26CB-9F74BB973BAA}"/>
              </a:ext>
            </a:extLst>
          </p:cNvPr>
          <p:cNvSpPr/>
          <p:nvPr/>
        </p:nvSpPr>
        <p:spPr>
          <a:xfrm>
            <a:off x="5017536" y="672639"/>
            <a:ext cx="4595329" cy="760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000000"/>
                </a:solidFill>
                <a:latin typeface="Poppins" panose="00000500000000000000" pitchFamily="2" charset="0"/>
                <a:ea typeface="Inter Bold" pitchFamily="34" charset="-122"/>
                <a:cs typeface="Poppins" panose="00000500000000000000" pitchFamily="2" charset="0"/>
              </a:rPr>
              <a:t>Market Analysis </a:t>
            </a:r>
            <a:endParaRPr lang="en-US" sz="44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F964B247-89FC-9777-745B-DFD8B48A4DD4}"/>
              </a:ext>
            </a:extLst>
          </p:cNvPr>
          <p:cNvSpPr/>
          <p:nvPr/>
        </p:nvSpPr>
        <p:spPr>
          <a:xfrm>
            <a:off x="14529360" y="5817850"/>
            <a:ext cx="16126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endParaRPr lang="en-US" sz="22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7820CA8-B791-E432-3169-BDB6FCE9DF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609225"/>
              </p:ext>
            </p:extLst>
          </p:nvPr>
        </p:nvGraphicFramePr>
        <p:xfrm>
          <a:off x="3228984" y="1981903"/>
          <a:ext cx="7686178" cy="5177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3089">
                  <a:extLst>
                    <a:ext uri="{9D8B030D-6E8A-4147-A177-3AD203B41FA5}">
                      <a16:colId xmlns:a16="http://schemas.microsoft.com/office/drawing/2014/main" val="982562935"/>
                    </a:ext>
                  </a:extLst>
                </a:gridCol>
                <a:gridCol w="3843089">
                  <a:extLst>
                    <a:ext uri="{9D8B030D-6E8A-4147-A177-3AD203B41FA5}">
                      <a16:colId xmlns:a16="http://schemas.microsoft.com/office/drawing/2014/main" val="4245441938"/>
                    </a:ext>
                  </a:extLst>
                </a:gridCol>
              </a:tblGrid>
              <a:tr h="1294342">
                <a:tc>
                  <a:txBody>
                    <a:bodyPr/>
                    <a:lstStyle/>
                    <a:p>
                      <a:pPr algn="ctr"/>
                      <a:endParaRPr lang="en-GB" sz="3600" dirty="0">
                        <a:solidFill>
                          <a:sysClr val="windowText" lastClr="000000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300923" marR="300923" marT="150462" marB="150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Turnover</a:t>
                      </a:r>
                    </a:p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(Approx.)</a:t>
                      </a:r>
                    </a:p>
                  </a:txBody>
                  <a:tcPr marL="300923" marR="300923" marT="150462" marB="150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107559"/>
                  </a:ext>
                </a:extLst>
              </a:tr>
              <a:tr h="1294342">
                <a:tc>
                  <a:txBody>
                    <a:bodyPr/>
                    <a:lstStyle/>
                    <a:p>
                      <a:endParaRPr lang="en-GB" sz="48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300923" marR="300923" marT="150462" marB="150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269cr</a:t>
                      </a:r>
                    </a:p>
                  </a:txBody>
                  <a:tcPr marL="300923" marR="300923" marT="150462" marB="150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4334011"/>
                  </a:ext>
                </a:extLst>
              </a:tr>
              <a:tr h="1294342">
                <a:tc>
                  <a:txBody>
                    <a:bodyPr/>
                    <a:lstStyle/>
                    <a:p>
                      <a:endParaRPr lang="en-GB" sz="48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300923" marR="300923" marT="150462" marB="150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95cr</a:t>
                      </a:r>
                    </a:p>
                  </a:txBody>
                  <a:tcPr marL="300923" marR="300923" marT="150462" marB="150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2252"/>
                  </a:ext>
                </a:extLst>
              </a:tr>
              <a:tr h="1294342">
                <a:tc>
                  <a:txBody>
                    <a:bodyPr/>
                    <a:lstStyle/>
                    <a:p>
                      <a:endParaRPr lang="en-GB" sz="48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300923" marR="300923" marT="150462" marB="150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193cr</a:t>
                      </a:r>
                    </a:p>
                  </a:txBody>
                  <a:tcPr marL="300923" marR="300923" marT="150462" marB="150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858733"/>
                  </a:ext>
                </a:extLst>
              </a:tr>
            </a:tbl>
          </a:graphicData>
        </a:graphic>
      </p:graphicFrame>
      <p:grpSp>
        <p:nvGrpSpPr>
          <p:cNvPr id="47" name="Group 46">
            <a:extLst>
              <a:ext uri="{FF2B5EF4-FFF2-40B4-BE49-F238E27FC236}">
                <a16:creationId xmlns:a16="http://schemas.microsoft.com/office/drawing/2014/main" id="{79169548-CD47-348B-3A58-3BF3B53B5C82}"/>
              </a:ext>
            </a:extLst>
          </p:cNvPr>
          <p:cNvGrpSpPr/>
          <p:nvPr/>
        </p:nvGrpSpPr>
        <p:grpSpPr>
          <a:xfrm>
            <a:off x="3689723" y="3457727"/>
            <a:ext cx="2758494" cy="3314734"/>
            <a:chOff x="3689723" y="3457727"/>
            <a:chExt cx="2758494" cy="331473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63864A6-4BEE-E16F-5466-DA313F693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5110" y="3457727"/>
              <a:ext cx="2507721" cy="923897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BA01BB84-8063-E449-2737-D6C0289FD4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896679" y="4956150"/>
              <a:ext cx="2311519" cy="508026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A64FA8C3-4443-3DF9-A672-F690848477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t="56254" b="16202"/>
            <a:stretch/>
          </p:blipFill>
          <p:spPr>
            <a:xfrm>
              <a:off x="3689723" y="6012680"/>
              <a:ext cx="2758494" cy="759781"/>
            </a:xfrm>
            <a:prstGeom prst="rect">
              <a:avLst/>
            </a:prstGeom>
          </p:spPr>
        </p:pic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D8B758E1-95F2-32E6-26DD-AE8709D5C7B5}"/>
              </a:ext>
            </a:extLst>
          </p:cNvPr>
          <p:cNvSpPr txBox="1"/>
          <p:nvPr/>
        </p:nvSpPr>
        <p:spPr>
          <a:xfrm>
            <a:off x="3795582" y="2239758"/>
            <a:ext cx="2668798" cy="641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b="1" dirty="0">
                <a:latin typeface="Poppins" panose="00000500000000000000" pitchFamily="2" charset="0"/>
                <a:cs typeface="Poppins" panose="00000500000000000000" pitchFamily="2" charset="0"/>
              </a:rPr>
              <a:t>Company</a:t>
            </a:r>
            <a:endParaRPr lang="en-GB" sz="3600" b="1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8" name="Text 1">
            <a:extLst>
              <a:ext uri="{FF2B5EF4-FFF2-40B4-BE49-F238E27FC236}">
                <a16:creationId xmlns:a16="http://schemas.microsoft.com/office/drawing/2014/main" id="{4EA57C55-D401-1D30-A5F6-138C71F4423F}"/>
              </a:ext>
            </a:extLst>
          </p:cNvPr>
          <p:cNvSpPr/>
          <p:nvPr/>
        </p:nvSpPr>
        <p:spPr>
          <a:xfrm>
            <a:off x="-6050374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272525"/>
                </a:solidFill>
                <a:latin typeface="Poppins" panose="00000500000000000000" pitchFamily="2" charset="0"/>
                <a:ea typeface="Inter Bold" pitchFamily="34" charset="-122"/>
                <a:cs typeface="Poppins" panose="00000500000000000000" pitchFamily="2" charset="0"/>
              </a:rPr>
              <a:t>Key Partners</a:t>
            </a:r>
            <a:endParaRPr lang="en-US" sz="2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9" name="Text 4">
            <a:extLst>
              <a:ext uri="{FF2B5EF4-FFF2-40B4-BE49-F238E27FC236}">
                <a16:creationId xmlns:a16="http://schemas.microsoft.com/office/drawing/2014/main" id="{26D5910B-0088-DA7C-3DD7-58CBBBB5D204}"/>
              </a:ext>
            </a:extLst>
          </p:cNvPr>
          <p:cNvSpPr/>
          <p:nvPr/>
        </p:nvSpPr>
        <p:spPr>
          <a:xfrm>
            <a:off x="17274754" y="30429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272525"/>
                </a:solidFill>
                <a:latin typeface="Poppins" panose="00000500000000000000" pitchFamily="2" charset="0"/>
                <a:ea typeface="Inter Bold" pitchFamily="34" charset="-122"/>
                <a:cs typeface="Poppins" panose="00000500000000000000" pitchFamily="2" charset="0"/>
              </a:rPr>
              <a:t>Value Proposition</a:t>
            </a:r>
            <a:endParaRPr lang="en-US" sz="2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0" name="Text 7">
            <a:extLst>
              <a:ext uri="{FF2B5EF4-FFF2-40B4-BE49-F238E27FC236}">
                <a16:creationId xmlns:a16="http://schemas.microsoft.com/office/drawing/2014/main" id="{62A6B7AE-4EEB-7890-9148-1E4C521EC014}"/>
              </a:ext>
            </a:extLst>
          </p:cNvPr>
          <p:cNvSpPr/>
          <p:nvPr/>
        </p:nvSpPr>
        <p:spPr>
          <a:xfrm>
            <a:off x="17274754" y="54955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272525"/>
                </a:solidFill>
                <a:latin typeface="Poppins" panose="00000500000000000000" pitchFamily="2" charset="0"/>
                <a:ea typeface="Inter Bold" pitchFamily="34" charset="-122"/>
                <a:cs typeface="Poppins" panose="00000500000000000000" pitchFamily="2" charset="0"/>
              </a:rPr>
              <a:t>Revenue</a:t>
            </a:r>
            <a:endParaRPr lang="en-US" sz="2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31592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8CEAC-5F59-92DA-339E-6219F74BB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959911F-4B7B-35E2-75A8-BF83924DB039}"/>
              </a:ext>
            </a:extLst>
          </p:cNvPr>
          <p:cNvSpPr/>
          <p:nvPr/>
        </p:nvSpPr>
        <p:spPr>
          <a:xfrm>
            <a:off x="12743411" y="7689273"/>
            <a:ext cx="1828800" cy="473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F1F1F9-1ECE-D4B1-2094-85C3EA9F04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265" y="-5220175"/>
            <a:ext cx="2539538" cy="935619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2455868-F96A-ABE8-6803-95CF7E0666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4354" y="-7978730"/>
            <a:ext cx="2961449" cy="5651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C5B8A07-2EF1-336E-1D6D-2CEFF0FF4D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8079" y="-5635262"/>
            <a:ext cx="1765795" cy="17657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B038278-F4F6-3E21-A9AD-3757134F9F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30225" y="-8615447"/>
            <a:ext cx="2081504" cy="208150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1B03CB1-411D-D495-447F-C7E3302C5BA5}"/>
              </a:ext>
            </a:extLst>
          </p:cNvPr>
          <p:cNvSpPr/>
          <p:nvPr/>
        </p:nvSpPr>
        <p:spPr>
          <a:xfrm>
            <a:off x="1219199" y="-9947931"/>
            <a:ext cx="5735701" cy="736270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B5E0193-95FC-87C9-8DF9-17CF35F6EAB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253" r="3253"/>
          <a:stretch/>
        </p:blipFill>
        <p:spPr>
          <a:xfrm>
            <a:off x="9942507" y="-8572000"/>
            <a:ext cx="3015893" cy="6272551"/>
          </a:xfrm>
          <a:prstGeom prst="roundRect">
            <a:avLst>
              <a:gd name="adj" fmla="val 19024"/>
            </a:avLst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AABBB5F-3711-2464-34AB-C5A8EF2034F4}"/>
              </a:ext>
            </a:extLst>
          </p:cNvPr>
          <p:cNvSpPr txBox="1"/>
          <p:nvPr/>
        </p:nvSpPr>
        <p:spPr>
          <a:xfrm>
            <a:off x="10367732" y="-9839742"/>
            <a:ext cx="26949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b="1" spc="600" dirty="0">
                <a:latin typeface="Poppins" panose="00000500000000000000" pitchFamily="2" charset="0"/>
                <a:cs typeface="Poppins" panose="00000500000000000000" pitchFamily="2" charset="0"/>
              </a:rPr>
              <a:t>LEEZ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914996-1360-3B06-0DBE-6306213ED864}"/>
              </a:ext>
            </a:extLst>
          </p:cNvPr>
          <p:cNvSpPr txBox="1"/>
          <p:nvPr/>
        </p:nvSpPr>
        <p:spPr>
          <a:xfrm>
            <a:off x="10430475" y="-9087222"/>
            <a:ext cx="223271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latin typeface="Poppins" panose="00000500000000000000" pitchFamily="2" charset="0"/>
                <a:cs typeface="Poppins" panose="00000500000000000000" pitchFamily="2" charset="0"/>
              </a:rPr>
              <a:t>One stop</a:t>
            </a:r>
            <a:r>
              <a:rPr lang="en-GB" sz="1000" dirty="0">
                <a:latin typeface="Poppins" panose="00000500000000000000" pitchFamily="2" charset="0"/>
                <a:cs typeface="Poppins" panose="00000500000000000000" pitchFamily="2" charset="0"/>
              </a:rPr>
              <a:t> Rental Marketplace</a:t>
            </a:r>
          </a:p>
        </p:txBody>
      </p:sp>
      <p:sp>
        <p:nvSpPr>
          <p:cNvPr id="18" name="Text 0">
            <a:extLst>
              <a:ext uri="{FF2B5EF4-FFF2-40B4-BE49-F238E27FC236}">
                <a16:creationId xmlns:a16="http://schemas.microsoft.com/office/drawing/2014/main" id="{455061F9-78B4-DE2C-D99F-4A021F61D4C1}"/>
              </a:ext>
            </a:extLst>
          </p:cNvPr>
          <p:cNvSpPr/>
          <p:nvPr/>
        </p:nvSpPr>
        <p:spPr>
          <a:xfrm>
            <a:off x="793790" y="-924139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000000"/>
                </a:solidFill>
                <a:latin typeface="Poppins" panose="00000500000000000000" pitchFamily="2" charset="0"/>
                <a:ea typeface="Inter Bold" pitchFamily="34" charset="-122"/>
                <a:cs typeface="Poppins" panose="00000500000000000000" pitchFamily="2" charset="0"/>
              </a:rPr>
              <a:t>Revenue Streams</a:t>
            </a:r>
            <a:endParaRPr lang="en-US" sz="44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3C44F02-C5E3-68D1-B648-EA41B9D3BDA5}"/>
              </a:ext>
            </a:extLst>
          </p:cNvPr>
          <p:cNvGrpSpPr/>
          <p:nvPr/>
        </p:nvGrpSpPr>
        <p:grpSpPr>
          <a:xfrm>
            <a:off x="793790" y="-7937305"/>
            <a:ext cx="7556421" cy="853321"/>
            <a:chOff x="793790" y="2337197"/>
            <a:chExt cx="7556421" cy="853321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9145EFA-ABE5-994E-4AC0-08779DAF3547}"/>
                </a:ext>
              </a:extLst>
            </p:cNvPr>
            <p:cNvGrpSpPr/>
            <p:nvPr/>
          </p:nvGrpSpPr>
          <p:grpSpPr>
            <a:xfrm>
              <a:off x="793790" y="2337197"/>
              <a:ext cx="510302" cy="510302"/>
              <a:chOff x="793790" y="2337197"/>
              <a:chExt cx="510302" cy="510302"/>
            </a:xfrm>
          </p:grpSpPr>
          <p:sp>
            <p:nvSpPr>
              <p:cNvPr id="23" name="Shape 1">
                <a:extLst>
                  <a:ext uri="{FF2B5EF4-FFF2-40B4-BE49-F238E27FC236}">
                    <a16:creationId xmlns:a16="http://schemas.microsoft.com/office/drawing/2014/main" id="{D161D62B-9EF3-76DA-DB07-257D657EB1BF}"/>
                  </a:ext>
                </a:extLst>
              </p:cNvPr>
              <p:cNvSpPr/>
              <p:nvPr/>
            </p:nvSpPr>
            <p:spPr>
              <a:xfrm>
                <a:off x="793790" y="2337197"/>
                <a:ext cx="510302" cy="510302"/>
              </a:xfrm>
              <a:prstGeom prst="roundRect">
                <a:avLst>
                  <a:gd name="adj" fmla="val 18669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 w="7620">
                <a:solidFill>
                  <a:srgbClr val="C0C1D7"/>
                </a:solidFill>
                <a:prstDash val="solid"/>
              </a:ln>
            </p:spPr>
          </p:sp>
          <p:sp>
            <p:nvSpPr>
              <p:cNvPr id="24" name="Text 2">
                <a:extLst>
                  <a:ext uri="{FF2B5EF4-FFF2-40B4-BE49-F238E27FC236}">
                    <a16:creationId xmlns:a16="http://schemas.microsoft.com/office/drawing/2014/main" id="{FFA95CB5-D128-1445-CBF9-5CCF018E3DCB}"/>
                  </a:ext>
                </a:extLst>
              </p:cNvPr>
              <p:cNvSpPr/>
              <p:nvPr/>
            </p:nvSpPr>
            <p:spPr>
              <a:xfrm>
                <a:off x="980599" y="2422208"/>
                <a:ext cx="136565" cy="34028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650"/>
                  </a:lnSpc>
                  <a:buNone/>
                </a:pPr>
                <a:r>
                  <a:rPr lang="en-US" sz="2650" b="1" kern="0" spc="-80" dirty="0">
                    <a:solidFill>
                      <a:schemeClr val="bg1"/>
                    </a:solidFill>
                    <a:latin typeface="Inter Bold" pitchFamily="34" charset="0"/>
                    <a:ea typeface="Inter Bold" pitchFamily="34" charset="-122"/>
                    <a:cs typeface="Inter Bold" pitchFamily="34" charset="-120"/>
                  </a:rPr>
                  <a:t>1</a:t>
                </a:r>
                <a:endParaRPr lang="en-US" sz="265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1" name="Text 3">
              <a:extLst>
                <a:ext uri="{FF2B5EF4-FFF2-40B4-BE49-F238E27FC236}">
                  <a16:creationId xmlns:a16="http://schemas.microsoft.com/office/drawing/2014/main" id="{BE588ACC-0829-05E6-48E3-8C89F05702E6}"/>
                </a:ext>
              </a:extLst>
            </p:cNvPr>
            <p:cNvSpPr/>
            <p:nvPr/>
          </p:nvSpPr>
          <p:spPr>
            <a:xfrm>
              <a:off x="1530906" y="2337197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750"/>
                </a:lnSpc>
                <a:buNone/>
              </a:pPr>
              <a:r>
                <a:rPr lang="en-US" sz="2200" b="1" kern="0" spc="-67" dirty="0">
                  <a:solidFill>
                    <a:srgbClr val="272525"/>
                  </a:solidFill>
                  <a:latin typeface="Poppins" panose="00000500000000000000" pitchFamily="2" charset="0"/>
                  <a:ea typeface="Inter Bold" pitchFamily="34" charset="-122"/>
                  <a:cs typeface="Poppins" panose="00000500000000000000" pitchFamily="2" charset="0"/>
                </a:rPr>
                <a:t>Listing Fees</a:t>
              </a:r>
              <a:endParaRPr lang="en-US" sz="22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2" name="Text 4">
              <a:extLst>
                <a:ext uri="{FF2B5EF4-FFF2-40B4-BE49-F238E27FC236}">
                  <a16:creationId xmlns:a16="http://schemas.microsoft.com/office/drawing/2014/main" id="{1C9890F5-1AAD-3105-410E-2B064B7DAE78}"/>
                </a:ext>
              </a:extLst>
            </p:cNvPr>
            <p:cNvSpPr/>
            <p:nvPr/>
          </p:nvSpPr>
          <p:spPr>
            <a:xfrm>
              <a:off x="1530906" y="2827615"/>
              <a:ext cx="6819305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850"/>
                </a:lnSpc>
                <a:buNone/>
              </a:pPr>
              <a:r>
                <a:rPr lang="en-US" sz="1750" kern="0" spc="-36" dirty="0">
                  <a:solidFill>
                    <a:srgbClr val="272525"/>
                  </a:solidFill>
                  <a:latin typeface="Poppins" panose="00000500000000000000" pitchFamily="2" charset="0"/>
                  <a:ea typeface="Inter" pitchFamily="34" charset="-122"/>
                  <a:cs typeface="Poppins" panose="00000500000000000000" pitchFamily="2" charset="0"/>
                </a:rPr>
                <a:t>Vendors pay to showcase products.</a:t>
              </a:r>
              <a:endParaRPr lang="en-US" sz="1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9995D7C-95DE-CB64-E87F-D30802B190F6}"/>
              </a:ext>
            </a:extLst>
          </p:cNvPr>
          <p:cNvGrpSpPr/>
          <p:nvPr/>
        </p:nvGrpSpPr>
        <p:grpSpPr>
          <a:xfrm>
            <a:off x="793790" y="-6602019"/>
            <a:ext cx="7556421" cy="853321"/>
            <a:chOff x="793790" y="3672483"/>
            <a:chExt cx="7556421" cy="853321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F424E44-8A5B-8305-2090-4C873D5513FF}"/>
                </a:ext>
              </a:extLst>
            </p:cNvPr>
            <p:cNvGrpSpPr/>
            <p:nvPr/>
          </p:nvGrpSpPr>
          <p:grpSpPr>
            <a:xfrm>
              <a:off x="793790" y="3672483"/>
              <a:ext cx="510302" cy="510302"/>
              <a:chOff x="793790" y="3672483"/>
              <a:chExt cx="510302" cy="510302"/>
            </a:xfrm>
          </p:grpSpPr>
          <p:sp>
            <p:nvSpPr>
              <p:cNvPr id="29" name="Shape 5">
                <a:extLst>
                  <a:ext uri="{FF2B5EF4-FFF2-40B4-BE49-F238E27FC236}">
                    <a16:creationId xmlns:a16="http://schemas.microsoft.com/office/drawing/2014/main" id="{C5E5DA5A-C0A3-9349-63A4-3217429E9F3D}"/>
                  </a:ext>
                </a:extLst>
              </p:cNvPr>
              <p:cNvSpPr/>
              <p:nvPr/>
            </p:nvSpPr>
            <p:spPr>
              <a:xfrm>
                <a:off x="793790" y="3672483"/>
                <a:ext cx="510302" cy="510302"/>
              </a:xfrm>
              <a:prstGeom prst="roundRect">
                <a:avLst>
                  <a:gd name="adj" fmla="val 18669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 w="7620">
                <a:solidFill>
                  <a:srgbClr val="C0C1D7"/>
                </a:solidFill>
                <a:prstDash val="solid"/>
              </a:ln>
            </p:spPr>
          </p:sp>
          <p:sp>
            <p:nvSpPr>
              <p:cNvPr id="30" name="Text 6">
                <a:extLst>
                  <a:ext uri="{FF2B5EF4-FFF2-40B4-BE49-F238E27FC236}">
                    <a16:creationId xmlns:a16="http://schemas.microsoft.com/office/drawing/2014/main" id="{726EBCF8-9354-6054-F47B-35740FA91D36}"/>
                  </a:ext>
                </a:extLst>
              </p:cNvPr>
              <p:cNvSpPr/>
              <p:nvPr/>
            </p:nvSpPr>
            <p:spPr>
              <a:xfrm>
                <a:off x="946904" y="3757493"/>
                <a:ext cx="203954" cy="34028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650"/>
                  </a:lnSpc>
                  <a:buNone/>
                </a:pPr>
                <a:r>
                  <a:rPr lang="en-US" sz="2650" b="1" kern="0" spc="-80" dirty="0">
                    <a:solidFill>
                      <a:schemeClr val="bg1"/>
                    </a:solidFill>
                    <a:latin typeface="Inter Bold" pitchFamily="34" charset="0"/>
                    <a:ea typeface="Inter Bold" pitchFamily="34" charset="-122"/>
                    <a:cs typeface="Inter Bold" pitchFamily="34" charset="-120"/>
                  </a:rPr>
                  <a:t>2</a:t>
                </a:r>
                <a:endParaRPr lang="en-US" sz="265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7" name="Text 7">
              <a:extLst>
                <a:ext uri="{FF2B5EF4-FFF2-40B4-BE49-F238E27FC236}">
                  <a16:creationId xmlns:a16="http://schemas.microsoft.com/office/drawing/2014/main" id="{A761660B-62D3-37B3-AF46-889B128C2A48}"/>
                </a:ext>
              </a:extLst>
            </p:cNvPr>
            <p:cNvSpPr/>
            <p:nvPr/>
          </p:nvSpPr>
          <p:spPr>
            <a:xfrm>
              <a:off x="1530906" y="3672483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750"/>
                </a:lnSpc>
                <a:buNone/>
              </a:pPr>
              <a:r>
                <a:rPr lang="en-US" sz="2200" b="1" kern="0" spc="-67" dirty="0">
                  <a:solidFill>
                    <a:srgbClr val="272525"/>
                  </a:solidFill>
                  <a:latin typeface="Poppins" panose="00000500000000000000" pitchFamily="2" charset="0"/>
                  <a:ea typeface="Inter Bold" pitchFamily="34" charset="-122"/>
                  <a:cs typeface="Poppins" panose="00000500000000000000" pitchFamily="2" charset="0"/>
                </a:rPr>
                <a:t>Featured Listings</a:t>
              </a:r>
              <a:endParaRPr lang="en-US" sz="22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8" name="Text 8">
              <a:extLst>
                <a:ext uri="{FF2B5EF4-FFF2-40B4-BE49-F238E27FC236}">
                  <a16:creationId xmlns:a16="http://schemas.microsoft.com/office/drawing/2014/main" id="{FD9F298A-F63B-47C9-BC9B-87B5E1074886}"/>
                </a:ext>
              </a:extLst>
            </p:cNvPr>
            <p:cNvSpPr/>
            <p:nvPr/>
          </p:nvSpPr>
          <p:spPr>
            <a:xfrm>
              <a:off x="1530906" y="4162901"/>
              <a:ext cx="6819305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850"/>
                </a:lnSpc>
                <a:buNone/>
              </a:pPr>
              <a:r>
                <a:rPr lang="en-US" sz="1750" kern="0" spc="-36" dirty="0">
                  <a:solidFill>
                    <a:srgbClr val="272525"/>
                  </a:solidFill>
                  <a:latin typeface="Poppins" panose="00000500000000000000" pitchFamily="2" charset="0"/>
                  <a:ea typeface="Inter" pitchFamily="34" charset="-122"/>
                  <a:cs typeface="Poppins" panose="00000500000000000000" pitchFamily="2" charset="0"/>
                </a:rPr>
                <a:t>Top placements for vendors.</a:t>
              </a:r>
              <a:endParaRPr lang="en-US" sz="1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E760B27-30C6-F2AF-BFA6-22309818C857}"/>
              </a:ext>
            </a:extLst>
          </p:cNvPr>
          <p:cNvGrpSpPr/>
          <p:nvPr/>
        </p:nvGrpSpPr>
        <p:grpSpPr>
          <a:xfrm>
            <a:off x="793790" y="-5266733"/>
            <a:ext cx="7556421" cy="853321"/>
            <a:chOff x="793790" y="5007769"/>
            <a:chExt cx="7556421" cy="853321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3E2B705-0FD0-CF37-63DC-8948A24499C3}"/>
                </a:ext>
              </a:extLst>
            </p:cNvPr>
            <p:cNvGrpSpPr/>
            <p:nvPr/>
          </p:nvGrpSpPr>
          <p:grpSpPr>
            <a:xfrm>
              <a:off x="793790" y="5007769"/>
              <a:ext cx="510302" cy="510302"/>
              <a:chOff x="793790" y="5007769"/>
              <a:chExt cx="510302" cy="510302"/>
            </a:xfrm>
          </p:grpSpPr>
          <p:sp>
            <p:nvSpPr>
              <p:cNvPr id="35" name="Shape 9">
                <a:extLst>
                  <a:ext uri="{FF2B5EF4-FFF2-40B4-BE49-F238E27FC236}">
                    <a16:creationId xmlns:a16="http://schemas.microsoft.com/office/drawing/2014/main" id="{964B9C41-2041-CAF8-9556-C1B8C2828FFA}"/>
                  </a:ext>
                </a:extLst>
              </p:cNvPr>
              <p:cNvSpPr/>
              <p:nvPr/>
            </p:nvSpPr>
            <p:spPr>
              <a:xfrm>
                <a:off x="793790" y="5007769"/>
                <a:ext cx="510302" cy="510302"/>
              </a:xfrm>
              <a:prstGeom prst="roundRect">
                <a:avLst>
                  <a:gd name="adj" fmla="val 18669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 w="7620">
                <a:solidFill>
                  <a:srgbClr val="C0C1D7"/>
                </a:solidFill>
                <a:prstDash val="solid"/>
              </a:ln>
            </p:spPr>
          </p:sp>
          <p:sp>
            <p:nvSpPr>
              <p:cNvPr id="36" name="Text 10">
                <a:extLst>
                  <a:ext uri="{FF2B5EF4-FFF2-40B4-BE49-F238E27FC236}">
                    <a16:creationId xmlns:a16="http://schemas.microsoft.com/office/drawing/2014/main" id="{6CB4BCA3-7D1E-768B-82B0-E53E43396EB2}"/>
                  </a:ext>
                </a:extLst>
              </p:cNvPr>
              <p:cNvSpPr/>
              <p:nvPr/>
            </p:nvSpPr>
            <p:spPr>
              <a:xfrm>
                <a:off x="944166" y="5092779"/>
                <a:ext cx="209431" cy="34028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650"/>
                  </a:lnSpc>
                  <a:buNone/>
                </a:pPr>
                <a:r>
                  <a:rPr lang="en-US" sz="2650" b="1" kern="0" spc="-80" dirty="0">
                    <a:solidFill>
                      <a:schemeClr val="bg1"/>
                    </a:solidFill>
                    <a:latin typeface="Inter Bold" pitchFamily="34" charset="0"/>
                    <a:ea typeface="Inter Bold" pitchFamily="34" charset="-122"/>
                    <a:cs typeface="Inter Bold" pitchFamily="34" charset="-120"/>
                  </a:rPr>
                  <a:t>3</a:t>
                </a:r>
                <a:endParaRPr lang="en-US" sz="265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3" name="Text 11">
              <a:extLst>
                <a:ext uri="{FF2B5EF4-FFF2-40B4-BE49-F238E27FC236}">
                  <a16:creationId xmlns:a16="http://schemas.microsoft.com/office/drawing/2014/main" id="{DE919025-D3A3-051B-011A-21CAF93418D6}"/>
                </a:ext>
              </a:extLst>
            </p:cNvPr>
            <p:cNvSpPr/>
            <p:nvPr/>
          </p:nvSpPr>
          <p:spPr>
            <a:xfrm>
              <a:off x="1530906" y="5007769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750"/>
                </a:lnSpc>
                <a:buNone/>
              </a:pPr>
              <a:r>
                <a:rPr lang="en-US" sz="2200" b="1" kern="0" spc="-67" dirty="0">
                  <a:solidFill>
                    <a:srgbClr val="272525"/>
                  </a:solidFill>
                  <a:latin typeface="Poppins" panose="00000500000000000000" pitchFamily="2" charset="0"/>
                  <a:ea typeface="Inter Bold" pitchFamily="34" charset="-122"/>
                  <a:cs typeface="Poppins" panose="00000500000000000000" pitchFamily="2" charset="0"/>
                </a:rPr>
                <a:t>Marketing</a:t>
              </a:r>
              <a:endParaRPr lang="en-US" sz="22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4" name="Text 12">
              <a:extLst>
                <a:ext uri="{FF2B5EF4-FFF2-40B4-BE49-F238E27FC236}">
                  <a16:creationId xmlns:a16="http://schemas.microsoft.com/office/drawing/2014/main" id="{F22DE21B-C47D-574E-488C-E63702E5E3F0}"/>
                </a:ext>
              </a:extLst>
            </p:cNvPr>
            <p:cNvSpPr/>
            <p:nvPr/>
          </p:nvSpPr>
          <p:spPr>
            <a:xfrm>
              <a:off x="1530906" y="5498187"/>
              <a:ext cx="6819305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850"/>
                </a:lnSpc>
                <a:buNone/>
              </a:pPr>
              <a:r>
                <a:rPr lang="en-US" sz="1750" kern="0" spc="-36" dirty="0">
                  <a:solidFill>
                    <a:srgbClr val="272525"/>
                  </a:solidFill>
                  <a:latin typeface="Poppins" panose="00000500000000000000" pitchFamily="2" charset="0"/>
                  <a:ea typeface="Inter" pitchFamily="34" charset="-122"/>
                  <a:cs typeface="Poppins" panose="00000500000000000000" pitchFamily="2" charset="0"/>
                </a:rPr>
                <a:t>Targeted vendor ads.</a:t>
              </a:r>
              <a:endParaRPr lang="en-US" sz="1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6E82660-DB35-A8C4-EA22-7C09D4382452}"/>
              </a:ext>
            </a:extLst>
          </p:cNvPr>
          <p:cNvGrpSpPr/>
          <p:nvPr/>
        </p:nvGrpSpPr>
        <p:grpSpPr>
          <a:xfrm>
            <a:off x="793790" y="-3931447"/>
            <a:ext cx="7556421" cy="853321"/>
            <a:chOff x="793790" y="6343055"/>
            <a:chExt cx="7556421" cy="853321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405532BB-0C06-1A66-085C-D106A204E45A}"/>
                </a:ext>
              </a:extLst>
            </p:cNvPr>
            <p:cNvGrpSpPr/>
            <p:nvPr/>
          </p:nvGrpSpPr>
          <p:grpSpPr>
            <a:xfrm>
              <a:off x="793790" y="6343055"/>
              <a:ext cx="510302" cy="510302"/>
              <a:chOff x="793790" y="6343055"/>
              <a:chExt cx="510302" cy="510302"/>
            </a:xfrm>
          </p:grpSpPr>
          <p:sp>
            <p:nvSpPr>
              <p:cNvPr id="41" name="Shape 13">
                <a:extLst>
                  <a:ext uri="{FF2B5EF4-FFF2-40B4-BE49-F238E27FC236}">
                    <a16:creationId xmlns:a16="http://schemas.microsoft.com/office/drawing/2014/main" id="{2C7ADF94-C14E-25F5-610A-23D15E225069}"/>
                  </a:ext>
                </a:extLst>
              </p:cNvPr>
              <p:cNvSpPr/>
              <p:nvPr/>
            </p:nvSpPr>
            <p:spPr>
              <a:xfrm>
                <a:off x="793790" y="6343055"/>
                <a:ext cx="510302" cy="510302"/>
              </a:xfrm>
              <a:prstGeom prst="roundRect">
                <a:avLst>
                  <a:gd name="adj" fmla="val 18669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 w="7620">
                <a:solidFill>
                  <a:srgbClr val="C0C1D7"/>
                </a:solidFill>
                <a:prstDash val="solid"/>
              </a:ln>
            </p:spPr>
          </p:sp>
          <p:sp>
            <p:nvSpPr>
              <p:cNvPr id="42" name="Text 14">
                <a:extLst>
                  <a:ext uri="{FF2B5EF4-FFF2-40B4-BE49-F238E27FC236}">
                    <a16:creationId xmlns:a16="http://schemas.microsoft.com/office/drawing/2014/main" id="{D33287AC-3659-BF53-79C5-F67C9E95C6ED}"/>
                  </a:ext>
                </a:extLst>
              </p:cNvPr>
              <p:cNvSpPr/>
              <p:nvPr/>
            </p:nvSpPr>
            <p:spPr>
              <a:xfrm>
                <a:off x="938927" y="6428065"/>
                <a:ext cx="219908" cy="34028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650"/>
                  </a:lnSpc>
                  <a:buNone/>
                </a:pPr>
                <a:r>
                  <a:rPr lang="en-US" sz="2650" b="1" kern="0" spc="-80" dirty="0">
                    <a:solidFill>
                      <a:schemeClr val="bg1"/>
                    </a:solidFill>
                    <a:latin typeface="Inter Bold" pitchFamily="34" charset="0"/>
                    <a:ea typeface="Inter Bold" pitchFamily="34" charset="-122"/>
                    <a:cs typeface="Inter Bold" pitchFamily="34" charset="-120"/>
                  </a:rPr>
                  <a:t>4</a:t>
                </a:r>
                <a:endParaRPr lang="en-US" sz="265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9" name="Text 15">
              <a:extLst>
                <a:ext uri="{FF2B5EF4-FFF2-40B4-BE49-F238E27FC236}">
                  <a16:creationId xmlns:a16="http://schemas.microsoft.com/office/drawing/2014/main" id="{656DA5ED-DDEE-63B6-B339-92296326A5E2}"/>
                </a:ext>
              </a:extLst>
            </p:cNvPr>
            <p:cNvSpPr/>
            <p:nvPr/>
          </p:nvSpPr>
          <p:spPr>
            <a:xfrm>
              <a:off x="1530906" y="6343055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750"/>
                </a:lnSpc>
                <a:buNone/>
              </a:pPr>
              <a:r>
                <a:rPr lang="en-US" sz="2200" b="1" kern="0" spc="-67" dirty="0">
                  <a:solidFill>
                    <a:srgbClr val="272525"/>
                  </a:solidFill>
                  <a:latin typeface="Poppins" panose="00000500000000000000" pitchFamily="2" charset="0"/>
                  <a:ea typeface="Inter Bold" pitchFamily="34" charset="-122"/>
                  <a:cs typeface="Poppins" panose="00000500000000000000" pitchFamily="2" charset="0"/>
                </a:rPr>
                <a:t>Data Insights</a:t>
              </a:r>
              <a:endParaRPr lang="en-US" sz="22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0" name="Text 16">
              <a:extLst>
                <a:ext uri="{FF2B5EF4-FFF2-40B4-BE49-F238E27FC236}">
                  <a16:creationId xmlns:a16="http://schemas.microsoft.com/office/drawing/2014/main" id="{26E1F0A8-8BF6-15BC-9BCB-A1EE5DE2B66B}"/>
                </a:ext>
              </a:extLst>
            </p:cNvPr>
            <p:cNvSpPr/>
            <p:nvPr/>
          </p:nvSpPr>
          <p:spPr>
            <a:xfrm>
              <a:off x="1530906" y="6833473"/>
              <a:ext cx="6819305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850"/>
                </a:lnSpc>
                <a:buNone/>
              </a:pPr>
              <a:r>
                <a:rPr lang="en-US" sz="1750" kern="0" spc="-36" dirty="0">
                  <a:solidFill>
                    <a:srgbClr val="272525"/>
                  </a:solidFill>
                  <a:latin typeface="Poppins" panose="00000500000000000000" pitchFamily="2" charset="0"/>
                  <a:ea typeface="Inter" pitchFamily="34" charset="-122"/>
                  <a:cs typeface="Poppins" panose="00000500000000000000" pitchFamily="2" charset="0"/>
                </a:rPr>
                <a:t>Monetizing user behavior data.</a:t>
              </a:r>
              <a:endParaRPr lang="en-US" sz="1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43" name="Text 3">
            <a:extLst>
              <a:ext uri="{FF2B5EF4-FFF2-40B4-BE49-F238E27FC236}">
                <a16:creationId xmlns:a16="http://schemas.microsoft.com/office/drawing/2014/main" id="{0B78A0B2-C1D7-403B-A40B-69936A61ED48}"/>
              </a:ext>
            </a:extLst>
          </p:cNvPr>
          <p:cNvSpPr/>
          <p:nvPr/>
        </p:nvSpPr>
        <p:spPr>
          <a:xfrm>
            <a:off x="14529360" y="5817850"/>
            <a:ext cx="16126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endParaRPr lang="en-US" sz="22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9" name="Text 0">
            <a:extLst>
              <a:ext uri="{FF2B5EF4-FFF2-40B4-BE49-F238E27FC236}">
                <a16:creationId xmlns:a16="http://schemas.microsoft.com/office/drawing/2014/main" id="{DE138E83-E23D-7B7D-CE03-1518F060069E}"/>
              </a:ext>
            </a:extLst>
          </p:cNvPr>
          <p:cNvSpPr/>
          <p:nvPr/>
        </p:nvSpPr>
        <p:spPr>
          <a:xfrm>
            <a:off x="5116962" y="703164"/>
            <a:ext cx="4306498" cy="653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000000"/>
                </a:solidFill>
                <a:latin typeface="Poppins" panose="00000500000000000000" pitchFamily="2" charset="0"/>
                <a:ea typeface="Inter Bold" pitchFamily="34" charset="-122"/>
                <a:cs typeface="Poppins" panose="00000500000000000000" pitchFamily="2" charset="0"/>
              </a:rPr>
              <a:t>Business Model </a:t>
            </a:r>
            <a:endParaRPr lang="en-US" sz="44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1" name="Text 2">
            <a:extLst>
              <a:ext uri="{FF2B5EF4-FFF2-40B4-BE49-F238E27FC236}">
                <a16:creationId xmlns:a16="http://schemas.microsoft.com/office/drawing/2014/main" id="{5F48B3B8-16FF-7719-1F3B-F62CA9A3E036}"/>
              </a:ext>
            </a:extLst>
          </p:cNvPr>
          <p:cNvSpPr/>
          <p:nvPr/>
        </p:nvSpPr>
        <p:spPr>
          <a:xfrm>
            <a:off x="793790" y="4759762"/>
            <a:ext cx="3785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Poppins" panose="00000500000000000000" pitchFamily="2" charset="0"/>
                <a:ea typeface="Inter" pitchFamily="34" charset="-122"/>
                <a:cs typeface="Poppins" panose="00000500000000000000" pitchFamily="2" charset="0"/>
              </a:rPr>
              <a:t>Vendors, Logistics</a:t>
            </a:r>
            <a:endParaRPr lang="en-US" sz="17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5" name="Text 5">
            <a:extLst>
              <a:ext uri="{FF2B5EF4-FFF2-40B4-BE49-F238E27FC236}">
                <a16:creationId xmlns:a16="http://schemas.microsoft.com/office/drawing/2014/main" id="{D23C14D2-67C9-D08C-672D-38FC8F813055}"/>
              </a:ext>
            </a:extLst>
          </p:cNvPr>
          <p:cNvSpPr/>
          <p:nvPr/>
        </p:nvSpPr>
        <p:spPr>
          <a:xfrm>
            <a:off x="9937790" y="3533418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Poppins" panose="00000500000000000000" pitchFamily="2" charset="0"/>
                <a:ea typeface="Inter" pitchFamily="34" charset="-122"/>
                <a:cs typeface="Poppins" panose="00000500000000000000" pitchFamily="2" charset="0"/>
              </a:rPr>
              <a:t>One-stop, no commission</a:t>
            </a:r>
            <a:endParaRPr lang="en-US" sz="17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9" name="Text 8">
            <a:extLst>
              <a:ext uri="{FF2B5EF4-FFF2-40B4-BE49-F238E27FC236}">
                <a16:creationId xmlns:a16="http://schemas.microsoft.com/office/drawing/2014/main" id="{DF1C2828-6628-96B0-7578-AA7671509922}"/>
              </a:ext>
            </a:extLst>
          </p:cNvPr>
          <p:cNvSpPr/>
          <p:nvPr/>
        </p:nvSpPr>
        <p:spPr>
          <a:xfrm>
            <a:off x="9937790" y="5985986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Poppins" panose="00000500000000000000" pitchFamily="2" charset="0"/>
                <a:ea typeface="Inter" pitchFamily="34" charset="-122"/>
                <a:cs typeface="Poppins" panose="00000500000000000000" pitchFamily="2" charset="0"/>
              </a:rPr>
              <a:t>Listing fees, ads</a:t>
            </a:r>
            <a:endParaRPr lang="en-US" sz="17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0" name="Text 1">
            <a:extLst>
              <a:ext uri="{FF2B5EF4-FFF2-40B4-BE49-F238E27FC236}">
                <a16:creationId xmlns:a16="http://schemas.microsoft.com/office/drawing/2014/main" id="{89BC4804-F9FE-52F4-0B03-1C900B05A809}"/>
              </a:ext>
            </a:extLst>
          </p:cNvPr>
          <p:cNvSpPr/>
          <p:nvPr/>
        </p:nvSpPr>
        <p:spPr>
          <a:xfrm>
            <a:off x="1743789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272525"/>
                </a:solidFill>
                <a:latin typeface="Poppins" panose="00000500000000000000" pitchFamily="2" charset="0"/>
                <a:ea typeface="Inter Bold" pitchFamily="34" charset="-122"/>
                <a:cs typeface="Poppins" panose="00000500000000000000" pitchFamily="2" charset="0"/>
              </a:rPr>
              <a:t>Key Partners</a:t>
            </a:r>
            <a:endParaRPr lang="en-US" sz="2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4" name="Text 4">
            <a:extLst>
              <a:ext uri="{FF2B5EF4-FFF2-40B4-BE49-F238E27FC236}">
                <a16:creationId xmlns:a16="http://schemas.microsoft.com/office/drawing/2014/main" id="{E6BB86DC-1D5F-E753-AE66-CB0CAF299B5E}"/>
              </a:ext>
            </a:extLst>
          </p:cNvPr>
          <p:cNvSpPr/>
          <p:nvPr/>
        </p:nvSpPr>
        <p:spPr>
          <a:xfrm>
            <a:off x="9937790" y="30429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272525"/>
                </a:solidFill>
                <a:latin typeface="Poppins" panose="00000500000000000000" pitchFamily="2" charset="0"/>
                <a:ea typeface="Inter Bold" pitchFamily="34" charset="-122"/>
                <a:cs typeface="Poppins" panose="00000500000000000000" pitchFamily="2" charset="0"/>
              </a:rPr>
              <a:t>Value Proposition</a:t>
            </a:r>
            <a:endParaRPr lang="en-US" sz="2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8" name="Text 7">
            <a:extLst>
              <a:ext uri="{FF2B5EF4-FFF2-40B4-BE49-F238E27FC236}">
                <a16:creationId xmlns:a16="http://schemas.microsoft.com/office/drawing/2014/main" id="{B9096F84-15A6-C726-FDD8-48C373B50417}"/>
              </a:ext>
            </a:extLst>
          </p:cNvPr>
          <p:cNvSpPr/>
          <p:nvPr/>
        </p:nvSpPr>
        <p:spPr>
          <a:xfrm>
            <a:off x="9937790" y="54955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272525"/>
                </a:solidFill>
                <a:latin typeface="Poppins" panose="00000500000000000000" pitchFamily="2" charset="0"/>
                <a:ea typeface="Inter Bold" pitchFamily="34" charset="-122"/>
                <a:cs typeface="Poppins" panose="00000500000000000000" pitchFamily="2" charset="0"/>
              </a:rPr>
              <a:t>Revenue</a:t>
            </a:r>
            <a:endParaRPr lang="en-US" sz="2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A442D241-44AA-6D6B-45C6-0E23100A967E}"/>
              </a:ext>
            </a:extLst>
          </p:cNvPr>
          <p:cNvGrpSpPr/>
          <p:nvPr/>
        </p:nvGrpSpPr>
        <p:grpSpPr>
          <a:xfrm>
            <a:off x="5032653" y="2413516"/>
            <a:ext cx="4564975" cy="4564975"/>
            <a:chOff x="5032653" y="2413516"/>
            <a:chExt cx="4564975" cy="4564975"/>
          </a:xfrm>
        </p:grpSpPr>
        <p:pic>
          <p:nvPicPr>
            <p:cNvPr id="62" name="Image 0">
              <a:extLst>
                <a:ext uri="{FF2B5EF4-FFF2-40B4-BE49-F238E27FC236}">
                  <a16:creationId xmlns:a16="http://schemas.microsoft.com/office/drawing/2014/main" id="{2D96CD9B-788B-32E3-5350-047FA5083CC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prstClr val="black"/>
                <a:schemeClr val="tx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5032653" y="2413516"/>
              <a:ext cx="4564975" cy="4564975"/>
            </a:xfrm>
            <a:prstGeom prst="rect">
              <a:avLst/>
            </a:prstGeom>
          </p:spPr>
        </p:pic>
        <p:sp>
          <p:nvSpPr>
            <p:cNvPr id="63" name="Text 3">
              <a:extLst>
                <a:ext uri="{FF2B5EF4-FFF2-40B4-BE49-F238E27FC236}">
                  <a16:creationId xmlns:a16="http://schemas.microsoft.com/office/drawing/2014/main" id="{C6F27DBE-233B-ED8C-8A91-CF5D91A47E33}"/>
                </a:ext>
              </a:extLst>
            </p:cNvPr>
            <p:cNvSpPr/>
            <p:nvPr/>
          </p:nvSpPr>
          <p:spPr>
            <a:xfrm>
              <a:off x="5684163" y="4194453"/>
              <a:ext cx="113705" cy="45350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ts val="3550"/>
                </a:lnSpc>
                <a:buNone/>
              </a:pPr>
              <a:r>
                <a:rPr lang="en-US" sz="2200" b="1" kern="0" spc="-67" dirty="0">
                  <a:solidFill>
                    <a:schemeClr val="bg1"/>
                  </a:solidFill>
                  <a:latin typeface="Poppins" panose="00000500000000000000" pitchFamily="2" charset="0"/>
                  <a:ea typeface="Inter Bold" pitchFamily="34" charset="-122"/>
                  <a:cs typeface="Poppins" panose="00000500000000000000" pitchFamily="2" charset="0"/>
                </a:rPr>
                <a:t>1</a:t>
              </a:r>
              <a:endParaRPr lang="en-US" sz="2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66" name="Image 1">
              <a:extLst>
                <a:ext uri="{FF2B5EF4-FFF2-40B4-BE49-F238E27FC236}">
                  <a16:creationId xmlns:a16="http://schemas.microsoft.com/office/drawing/2014/main" id="{9891AB59-BA17-569E-9C0C-3CE0F31F5A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prstClr val="black"/>
                <a:schemeClr val="tx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5032653" y="2413516"/>
              <a:ext cx="4564975" cy="4564975"/>
            </a:xfrm>
            <a:prstGeom prst="rect">
              <a:avLst/>
            </a:prstGeom>
          </p:spPr>
        </p:pic>
        <p:sp>
          <p:nvSpPr>
            <p:cNvPr id="67" name="Text 6">
              <a:extLst>
                <a:ext uri="{FF2B5EF4-FFF2-40B4-BE49-F238E27FC236}">
                  <a16:creationId xmlns:a16="http://schemas.microsoft.com/office/drawing/2014/main" id="{A7FEC28A-1525-F4BC-015D-A89C93C16A05}"/>
                </a:ext>
              </a:extLst>
            </p:cNvPr>
            <p:cNvSpPr/>
            <p:nvPr/>
          </p:nvSpPr>
          <p:spPr>
            <a:xfrm>
              <a:off x="8254960" y="3243382"/>
              <a:ext cx="169902" cy="45350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ts val="3550"/>
                </a:lnSpc>
                <a:buNone/>
              </a:pPr>
              <a:r>
                <a:rPr lang="en-US" sz="2200" b="1" kern="0" spc="-67" dirty="0">
                  <a:solidFill>
                    <a:schemeClr val="bg1"/>
                  </a:solidFill>
                  <a:latin typeface="Poppins" panose="00000500000000000000" pitchFamily="2" charset="0"/>
                  <a:ea typeface="Inter Bold" pitchFamily="34" charset="-122"/>
                  <a:cs typeface="Poppins" panose="00000500000000000000" pitchFamily="2" charset="0"/>
                </a:rPr>
                <a:t>2</a:t>
              </a:r>
              <a:endParaRPr lang="en-US" sz="2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70" name="Image 2">
              <a:extLst>
                <a:ext uri="{FF2B5EF4-FFF2-40B4-BE49-F238E27FC236}">
                  <a16:creationId xmlns:a16="http://schemas.microsoft.com/office/drawing/2014/main" id="{F43CB10E-745A-5173-2855-B5A9369D4A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duotone>
                <a:prstClr val="black"/>
                <a:schemeClr val="tx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5032653" y="2413516"/>
              <a:ext cx="4564975" cy="4564975"/>
            </a:xfrm>
            <a:prstGeom prst="rect">
              <a:avLst/>
            </a:prstGeom>
          </p:spPr>
        </p:pic>
        <p:sp>
          <p:nvSpPr>
            <p:cNvPr id="71" name="Text 9">
              <a:extLst>
                <a:ext uri="{FF2B5EF4-FFF2-40B4-BE49-F238E27FC236}">
                  <a16:creationId xmlns:a16="http://schemas.microsoft.com/office/drawing/2014/main" id="{FC8F0F0F-3115-FEFA-995E-4CCDBDC6E554}"/>
                </a:ext>
              </a:extLst>
            </p:cNvPr>
            <p:cNvSpPr/>
            <p:nvPr/>
          </p:nvSpPr>
          <p:spPr>
            <a:xfrm>
              <a:off x="7776924" y="5969556"/>
              <a:ext cx="174427" cy="45350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ts val="3550"/>
                </a:lnSpc>
                <a:buNone/>
              </a:pPr>
              <a:r>
                <a:rPr lang="en-US" sz="2200" b="1" kern="0" spc="-67" dirty="0">
                  <a:solidFill>
                    <a:schemeClr val="bg1"/>
                  </a:solidFill>
                  <a:latin typeface="Poppins" panose="00000500000000000000" pitchFamily="2" charset="0"/>
                  <a:ea typeface="Inter Bold" pitchFamily="34" charset="-122"/>
                  <a:cs typeface="Poppins" panose="00000500000000000000" pitchFamily="2" charset="0"/>
                </a:rPr>
                <a:t>3</a:t>
              </a:r>
              <a:endParaRPr lang="en-US" sz="2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78" name="Text 0">
            <a:extLst>
              <a:ext uri="{FF2B5EF4-FFF2-40B4-BE49-F238E27FC236}">
                <a16:creationId xmlns:a16="http://schemas.microsoft.com/office/drawing/2014/main" id="{2AF2DD34-9EE3-B5B4-F513-093EF420D099}"/>
              </a:ext>
            </a:extLst>
          </p:cNvPr>
          <p:cNvSpPr/>
          <p:nvPr/>
        </p:nvSpPr>
        <p:spPr>
          <a:xfrm>
            <a:off x="5916731" y="-3141610"/>
            <a:ext cx="27969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2800" b="1" kern="0" spc="-134" dirty="0">
                <a:solidFill>
                  <a:srgbClr val="000000"/>
                </a:solidFill>
                <a:latin typeface="Poppins" panose="00000500000000000000" pitchFamily="2" charset="0"/>
                <a:ea typeface="Inter Bold" pitchFamily="34" charset="-122"/>
                <a:cs typeface="Poppins" panose="00000500000000000000" pitchFamily="2" charset="0"/>
              </a:rPr>
              <a:t>Market Analysis</a:t>
            </a: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79" name="Table 78">
            <a:extLst>
              <a:ext uri="{FF2B5EF4-FFF2-40B4-BE49-F238E27FC236}">
                <a16:creationId xmlns:a16="http://schemas.microsoft.com/office/drawing/2014/main" id="{7B165473-DFA9-1EE7-6777-3EF8F7F4C7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8039066"/>
              </p:ext>
            </p:extLst>
          </p:nvPr>
        </p:nvGraphicFramePr>
        <p:xfrm>
          <a:off x="3228984" y="13912632"/>
          <a:ext cx="7686178" cy="5177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3089">
                  <a:extLst>
                    <a:ext uri="{9D8B030D-6E8A-4147-A177-3AD203B41FA5}">
                      <a16:colId xmlns:a16="http://schemas.microsoft.com/office/drawing/2014/main" val="982562935"/>
                    </a:ext>
                  </a:extLst>
                </a:gridCol>
                <a:gridCol w="3843089">
                  <a:extLst>
                    <a:ext uri="{9D8B030D-6E8A-4147-A177-3AD203B41FA5}">
                      <a16:colId xmlns:a16="http://schemas.microsoft.com/office/drawing/2014/main" val="4245441938"/>
                    </a:ext>
                  </a:extLst>
                </a:gridCol>
              </a:tblGrid>
              <a:tr h="1294342">
                <a:tc>
                  <a:txBody>
                    <a:bodyPr/>
                    <a:lstStyle/>
                    <a:p>
                      <a:pPr algn="ctr"/>
                      <a:endParaRPr lang="en-GB" sz="3600" dirty="0">
                        <a:solidFill>
                          <a:sysClr val="windowText" lastClr="000000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300923" marR="300923" marT="150462" marB="150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Turnover</a:t>
                      </a:r>
                    </a:p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(Approx.)</a:t>
                      </a:r>
                    </a:p>
                  </a:txBody>
                  <a:tcPr marL="300923" marR="300923" marT="150462" marB="150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107559"/>
                  </a:ext>
                </a:extLst>
              </a:tr>
              <a:tr h="1294342">
                <a:tc>
                  <a:txBody>
                    <a:bodyPr/>
                    <a:lstStyle/>
                    <a:p>
                      <a:endParaRPr lang="en-GB" sz="48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300923" marR="300923" marT="150462" marB="150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269cr</a:t>
                      </a:r>
                    </a:p>
                  </a:txBody>
                  <a:tcPr marL="300923" marR="300923" marT="150462" marB="150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4334011"/>
                  </a:ext>
                </a:extLst>
              </a:tr>
              <a:tr h="1294342">
                <a:tc>
                  <a:txBody>
                    <a:bodyPr/>
                    <a:lstStyle/>
                    <a:p>
                      <a:endParaRPr lang="en-GB" sz="48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300923" marR="300923" marT="150462" marB="150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95cr</a:t>
                      </a:r>
                    </a:p>
                  </a:txBody>
                  <a:tcPr marL="300923" marR="300923" marT="150462" marB="150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2252"/>
                  </a:ext>
                </a:extLst>
              </a:tr>
              <a:tr h="1294342">
                <a:tc>
                  <a:txBody>
                    <a:bodyPr/>
                    <a:lstStyle/>
                    <a:p>
                      <a:endParaRPr lang="en-GB" sz="48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300923" marR="300923" marT="150462" marB="150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193cr</a:t>
                      </a:r>
                    </a:p>
                  </a:txBody>
                  <a:tcPr marL="300923" marR="300923" marT="150462" marB="150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858733"/>
                  </a:ext>
                </a:extLst>
              </a:tr>
            </a:tbl>
          </a:graphicData>
        </a:graphic>
      </p:graphicFrame>
      <p:grpSp>
        <p:nvGrpSpPr>
          <p:cNvPr id="80" name="Group 79">
            <a:extLst>
              <a:ext uri="{FF2B5EF4-FFF2-40B4-BE49-F238E27FC236}">
                <a16:creationId xmlns:a16="http://schemas.microsoft.com/office/drawing/2014/main" id="{71EA4C29-4A81-431E-35F8-6B998B9E59AF}"/>
              </a:ext>
            </a:extLst>
          </p:cNvPr>
          <p:cNvGrpSpPr/>
          <p:nvPr/>
        </p:nvGrpSpPr>
        <p:grpSpPr>
          <a:xfrm>
            <a:off x="3689723" y="15388456"/>
            <a:ext cx="2758494" cy="3314734"/>
            <a:chOff x="3689723" y="3457727"/>
            <a:chExt cx="2758494" cy="3314734"/>
          </a:xfrm>
        </p:grpSpPr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4A93B48D-C017-6403-D118-EAE2FEFBB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5110" y="3457727"/>
              <a:ext cx="2507721" cy="923897"/>
            </a:xfrm>
            <a:prstGeom prst="rect">
              <a:avLst/>
            </a:prstGeom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A52AE181-D94F-BD82-1BF0-9851A6B38F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896679" y="4956150"/>
              <a:ext cx="2311519" cy="508026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0EBCE6EB-50CD-5CF5-0241-691356DC837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56254" b="16202"/>
            <a:stretch/>
          </p:blipFill>
          <p:spPr>
            <a:xfrm>
              <a:off x="3689723" y="6012680"/>
              <a:ext cx="2758494" cy="759781"/>
            </a:xfrm>
            <a:prstGeom prst="rect">
              <a:avLst/>
            </a:prstGeom>
          </p:spPr>
        </p:pic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CD3C819A-29AA-F55E-F27D-5728830590AC}"/>
              </a:ext>
            </a:extLst>
          </p:cNvPr>
          <p:cNvSpPr txBox="1"/>
          <p:nvPr/>
        </p:nvSpPr>
        <p:spPr>
          <a:xfrm>
            <a:off x="3795582" y="14126937"/>
            <a:ext cx="2668798" cy="641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b="1" dirty="0">
                <a:latin typeface="Poppins" panose="00000500000000000000" pitchFamily="2" charset="0"/>
                <a:cs typeface="Poppins" panose="00000500000000000000" pitchFamily="2" charset="0"/>
              </a:rPr>
              <a:t>Company</a:t>
            </a:r>
            <a:endParaRPr lang="en-GB" sz="3600" b="1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2" name="Flowchart: Connector 91">
            <a:extLst>
              <a:ext uri="{FF2B5EF4-FFF2-40B4-BE49-F238E27FC236}">
                <a16:creationId xmlns:a16="http://schemas.microsoft.com/office/drawing/2014/main" id="{6A432EA3-88BA-3C68-D615-CC251B1108BE}"/>
              </a:ext>
            </a:extLst>
          </p:cNvPr>
          <p:cNvSpPr/>
          <p:nvPr/>
        </p:nvSpPr>
        <p:spPr>
          <a:xfrm>
            <a:off x="6003765" y="8326235"/>
            <a:ext cx="2622871" cy="2622871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3F2779B9-8DC3-ADCE-646D-10B2C21FCE46}"/>
              </a:ext>
            </a:extLst>
          </p:cNvPr>
          <p:cNvGrpSpPr/>
          <p:nvPr/>
        </p:nvGrpSpPr>
        <p:grpSpPr>
          <a:xfrm>
            <a:off x="2705436" y="16074326"/>
            <a:ext cx="8859509" cy="8990318"/>
            <a:chOff x="951404" y="1700093"/>
            <a:chExt cx="11792007" cy="10878285"/>
          </a:xfrm>
        </p:grpSpPr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446AAB4F-497E-5452-A360-EEAD6125992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253" r="3253"/>
            <a:stretch/>
          </p:blipFill>
          <p:spPr>
            <a:xfrm>
              <a:off x="951404" y="1700093"/>
              <a:ext cx="5230367" cy="10878285"/>
            </a:xfrm>
            <a:prstGeom prst="roundRect">
              <a:avLst>
                <a:gd name="adj" fmla="val 19024"/>
              </a:avLst>
            </a:prstGeom>
          </p:spPr>
        </p:pic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8918B7C8-007D-1980-66C0-86BDBEAAFF02}"/>
                </a:ext>
              </a:extLst>
            </p:cNvPr>
            <p:cNvSpPr txBox="1"/>
            <p:nvPr/>
          </p:nvSpPr>
          <p:spPr>
            <a:xfrm>
              <a:off x="8359582" y="4798077"/>
              <a:ext cx="43838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>
                  <a:latin typeface="Poppins" panose="00000500000000000000" pitchFamily="2" charset="0"/>
                  <a:cs typeface="Poppins" panose="00000500000000000000" pitchFamily="2" charset="0"/>
                </a:rPr>
                <a:t>One Stop</a:t>
              </a:r>
              <a:r>
                <a:rPr lang="en-GB" sz="2400" dirty="0">
                  <a:latin typeface="Poppins" panose="00000500000000000000" pitchFamily="2" charset="0"/>
                  <a:cs typeface="Poppins" panose="00000500000000000000" pitchFamily="2" charset="0"/>
                </a:rPr>
                <a:t> Rental Marketplace</a:t>
              </a:r>
            </a:p>
          </p:txBody>
        </p:sp>
      </p:grpSp>
      <p:pic>
        <p:nvPicPr>
          <p:cNvPr id="95" name="Picture 94">
            <a:extLst>
              <a:ext uri="{FF2B5EF4-FFF2-40B4-BE49-F238E27FC236}">
                <a16:creationId xmlns:a16="http://schemas.microsoft.com/office/drawing/2014/main" id="{9400D919-FF33-D72D-1C96-88BC1B1B2F2F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17347" t="18377" r="16968" b="14913"/>
          <a:stretch/>
        </p:blipFill>
        <p:spPr>
          <a:xfrm>
            <a:off x="7486651" y="13499543"/>
            <a:ext cx="4781214" cy="4264646"/>
          </a:xfrm>
          <a:prstGeom prst="flowChartConnector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594778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5" grpId="0" animBg="1"/>
      <p:bldP spid="6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AB55F-00FC-986B-8C73-D31664FDF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>
            <a:extLst>
              <a:ext uri="{FF2B5EF4-FFF2-40B4-BE49-F238E27FC236}">
                <a16:creationId xmlns:a16="http://schemas.microsoft.com/office/drawing/2014/main" id="{AE9F65DD-568B-10B8-0930-CEBA68C8CD57}"/>
              </a:ext>
            </a:extLst>
          </p:cNvPr>
          <p:cNvSpPr/>
          <p:nvPr/>
        </p:nvSpPr>
        <p:spPr>
          <a:xfrm>
            <a:off x="5116962" y="703164"/>
            <a:ext cx="4306498" cy="653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000000"/>
                </a:solidFill>
                <a:latin typeface="Poppins" panose="00000500000000000000" pitchFamily="2" charset="0"/>
                <a:ea typeface="Inter Bold" pitchFamily="34" charset="-122"/>
                <a:cs typeface="Poppins" panose="00000500000000000000" pitchFamily="2" charset="0"/>
              </a:rPr>
              <a:t>Business Model </a:t>
            </a:r>
            <a:endParaRPr lang="en-US" sz="44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2" name="Text 2">
            <a:extLst>
              <a:ext uri="{FF2B5EF4-FFF2-40B4-BE49-F238E27FC236}">
                <a16:creationId xmlns:a16="http://schemas.microsoft.com/office/drawing/2014/main" id="{85C063A0-1E05-5B1C-5194-423217EE5AC9}"/>
              </a:ext>
            </a:extLst>
          </p:cNvPr>
          <p:cNvSpPr/>
          <p:nvPr/>
        </p:nvSpPr>
        <p:spPr>
          <a:xfrm>
            <a:off x="793790" y="4759762"/>
            <a:ext cx="3785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Poppins" panose="00000500000000000000" pitchFamily="2" charset="0"/>
                <a:ea typeface="Inter" pitchFamily="34" charset="-122"/>
                <a:cs typeface="Poppins" panose="00000500000000000000" pitchFamily="2" charset="0"/>
              </a:rPr>
              <a:t>Vendors, Logistics</a:t>
            </a:r>
            <a:endParaRPr lang="en-US" sz="17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4" name="Text 5">
            <a:extLst>
              <a:ext uri="{FF2B5EF4-FFF2-40B4-BE49-F238E27FC236}">
                <a16:creationId xmlns:a16="http://schemas.microsoft.com/office/drawing/2014/main" id="{EF580C69-5CC1-8C1C-1836-BBEA625AB56A}"/>
              </a:ext>
            </a:extLst>
          </p:cNvPr>
          <p:cNvSpPr/>
          <p:nvPr/>
        </p:nvSpPr>
        <p:spPr>
          <a:xfrm>
            <a:off x="9937790" y="3533418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Poppins" panose="00000500000000000000" pitchFamily="2" charset="0"/>
                <a:ea typeface="Inter" pitchFamily="34" charset="-122"/>
                <a:cs typeface="Poppins" panose="00000500000000000000" pitchFamily="2" charset="0"/>
              </a:rPr>
              <a:t>One-stop, no commission</a:t>
            </a:r>
            <a:endParaRPr lang="en-US" sz="17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5" name="Text 8">
            <a:extLst>
              <a:ext uri="{FF2B5EF4-FFF2-40B4-BE49-F238E27FC236}">
                <a16:creationId xmlns:a16="http://schemas.microsoft.com/office/drawing/2014/main" id="{E1D27B5C-E1B0-3184-AA67-3A448C3F9DA1}"/>
              </a:ext>
            </a:extLst>
          </p:cNvPr>
          <p:cNvSpPr/>
          <p:nvPr/>
        </p:nvSpPr>
        <p:spPr>
          <a:xfrm>
            <a:off x="9937790" y="5985986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Poppins" panose="00000500000000000000" pitchFamily="2" charset="0"/>
                <a:ea typeface="Inter" pitchFamily="34" charset="-122"/>
                <a:cs typeface="Poppins" panose="00000500000000000000" pitchFamily="2" charset="0"/>
              </a:rPr>
              <a:t>Listing fees, ads</a:t>
            </a:r>
            <a:endParaRPr lang="en-US" sz="17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6" name="Text 1">
            <a:extLst>
              <a:ext uri="{FF2B5EF4-FFF2-40B4-BE49-F238E27FC236}">
                <a16:creationId xmlns:a16="http://schemas.microsoft.com/office/drawing/2014/main" id="{E8C36CC7-4D7B-FE17-00AE-1C8298EB7CB5}"/>
              </a:ext>
            </a:extLst>
          </p:cNvPr>
          <p:cNvSpPr/>
          <p:nvPr/>
        </p:nvSpPr>
        <p:spPr>
          <a:xfrm>
            <a:off x="1743789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272525"/>
                </a:solidFill>
                <a:latin typeface="Poppins" panose="00000500000000000000" pitchFamily="2" charset="0"/>
                <a:ea typeface="Inter Bold" pitchFamily="34" charset="-122"/>
                <a:cs typeface="Poppins" panose="00000500000000000000" pitchFamily="2" charset="0"/>
              </a:rPr>
              <a:t>Key Partners</a:t>
            </a:r>
            <a:endParaRPr lang="en-US" sz="2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7" name="Text 4">
            <a:extLst>
              <a:ext uri="{FF2B5EF4-FFF2-40B4-BE49-F238E27FC236}">
                <a16:creationId xmlns:a16="http://schemas.microsoft.com/office/drawing/2014/main" id="{041D1E74-8A7B-25DF-689C-46F9868AA5CB}"/>
              </a:ext>
            </a:extLst>
          </p:cNvPr>
          <p:cNvSpPr/>
          <p:nvPr/>
        </p:nvSpPr>
        <p:spPr>
          <a:xfrm>
            <a:off x="9937790" y="30429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272525"/>
                </a:solidFill>
                <a:latin typeface="Poppins" panose="00000500000000000000" pitchFamily="2" charset="0"/>
                <a:ea typeface="Inter Bold" pitchFamily="34" charset="-122"/>
                <a:cs typeface="Poppins" panose="00000500000000000000" pitchFamily="2" charset="0"/>
              </a:rPr>
              <a:t>Value Proposition</a:t>
            </a:r>
            <a:endParaRPr lang="en-US" sz="2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5" name="Text 7">
            <a:extLst>
              <a:ext uri="{FF2B5EF4-FFF2-40B4-BE49-F238E27FC236}">
                <a16:creationId xmlns:a16="http://schemas.microsoft.com/office/drawing/2014/main" id="{9A27D837-3B1E-6148-A654-DD12E84FE5A0}"/>
              </a:ext>
            </a:extLst>
          </p:cNvPr>
          <p:cNvSpPr/>
          <p:nvPr/>
        </p:nvSpPr>
        <p:spPr>
          <a:xfrm>
            <a:off x="9937790" y="54955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272525"/>
                </a:solidFill>
                <a:latin typeface="Poppins" panose="00000500000000000000" pitchFamily="2" charset="0"/>
                <a:ea typeface="Inter Bold" pitchFamily="34" charset="-122"/>
                <a:cs typeface="Poppins" panose="00000500000000000000" pitchFamily="2" charset="0"/>
              </a:rPr>
              <a:t>Revenue</a:t>
            </a:r>
            <a:endParaRPr lang="en-US" sz="2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15165CC1-7BCA-74B5-78E2-B053C00479BE}"/>
              </a:ext>
            </a:extLst>
          </p:cNvPr>
          <p:cNvGrpSpPr/>
          <p:nvPr/>
        </p:nvGrpSpPr>
        <p:grpSpPr>
          <a:xfrm>
            <a:off x="5032653" y="2413516"/>
            <a:ext cx="4564975" cy="4564975"/>
            <a:chOff x="5032653" y="2413516"/>
            <a:chExt cx="4564975" cy="4564975"/>
          </a:xfrm>
        </p:grpSpPr>
        <p:pic>
          <p:nvPicPr>
            <p:cNvPr id="87" name="Image 0">
              <a:extLst>
                <a:ext uri="{FF2B5EF4-FFF2-40B4-BE49-F238E27FC236}">
                  <a16:creationId xmlns:a16="http://schemas.microsoft.com/office/drawing/2014/main" id="{6D031336-633C-9C02-93F2-06B4DB69FE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tx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5032653" y="2413516"/>
              <a:ext cx="4564975" cy="4564975"/>
            </a:xfrm>
            <a:prstGeom prst="rect">
              <a:avLst/>
            </a:prstGeom>
          </p:spPr>
        </p:pic>
        <p:sp>
          <p:nvSpPr>
            <p:cNvPr id="88" name="Text 3">
              <a:extLst>
                <a:ext uri="{FF2B5EF4-FFF2-40B4-BE49-F238E27FC236}">
                  <a16:creationId xmlns:a16="http://schemas.microsoft.com/office/drawing/2014/main" id="{9C0F4086-7E65-9577-CEF3-A671FEAF852B}"/>
                </a:ext>
              </a:extLst>
            </p:cNvPr>
            <p:cNvSpPr/>
            <p:nvPr/>
          </p:nvSpPr>
          <p:spPr>
            <a:xfrm>
              <a:off x="5684163" y="4194453"/>
              <a:ext cx="113705" cy="45350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ts val="3550"/>
                </a:lnSpc>
                <a:buNone/>
              </a:pPr>
              <a:r>
                <a:rPr lang="en-US" sz="2200" b="1" kern="0" spc="-67" dirty="0">
                  <a:solidFill>
                    <a:schemeClr val="bg1"/>
                  </a:solidFill>
                  <a:latin typeface="Poppins" panose="00000500000000000000" pitchFamily="2" charset="0"/>
                  <a:ea typeface="Inter Bold" pitchFamily="34" charset="-122"/>
                  <a:cs typeface="Poppins" panose="00000500000000000000" pitchFamily="2" charset="0"/>
                </a:rPr>
                <a:t>1</a:t>
              </a:r>
              <a:endParaRPr lang="en-US" sz="2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89" name="Image 1">
              <a:extLst>
                <a:ext uri="{FF2B5EF4-FFF2-40B4-BE49-F238E27FC236}">
                  <a16:creationId xmlns:a16="http://schemas.microsoft.com/office/drawing/2014/main" id="{01A2230F-6D67-79DE-285F-4DB5DE3F5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5032653" y="2413516"/>
              <a:ext cx="4564975" cy="4564975"/>
            </a:xfrm>
            <a:prstGeom prst="rect">
              <a:avLst/>
            </a:prstGeom>
          </p:spPr>
        </p:pic>
        <p:sp>
          <p:nvSpPr>
            <p:cNvPr id="90" name="Text 6">
              <a:extLst>
                <a:ext uri="{FF2B5EF4-FFF2-40B4-BE49-F238E27FC236}">
                  <a16:creationId xmlns:a16="http://schemas.microsoft.com/office/drawing/2014/main" id="{82BCE13E-3B7B-197F-2E2A-73D79516BAA0}"/>
                </a:ext>
              </a:extLst>
            </p:cNvPr>
            <p:cNvSpPr/>
            <p:nvPr/>
          </p:nvSpPr>
          <p:spPr>
            <a:xfrm>
              <a:off x="8254960" y="3243382"/>
              <a:ext cx="169902" cy="45350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ts val="3550"/>
                </a:lnSpc>
                <a:buNone/>
              </a:pPr>
              <a:r>
                <a:rPr lang="en-US" sz="2200" b="1" kern="0" spc="-67" dirty="0">
                  <a:solidFill>
                    <a:schemeClr val="bg1"/>
                  </a:solidFill>
                  <a:latin typeface="Poppins" panose="00000500000000000000" pitchFamily="2" charset="0"/>
                  <a:ea typeface="Inter Bold" pitchFamily="34" charset="-122"/>
                  <a:cs typeface="Poppins" panose="00000500000000000000" pitchFamily="2" charset="0"/>
                </a:rPr>
                <a:t>2</a:t>
              </a:r>
              <a:endParaRPr lang="en-US" sz="2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91" name="Image 2">
              <a:extLst>
                <a:ext uri="{FF2B5EF4-FFF2-40B4-BE49-F238E27FC236}">
                  <a16:creationId xmlns:a16="http://schemas.microsoft.com/office/drawing/2014/main" id="{46C7BCD1-59ED-C985-859F-58E600954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5032653" y="2413516"/>
              <a:ext cx="4564975" cy="4564975"/>
            </a:xfrm>
            <a:prstGeom prst="rect">
              <a:avLst/>
            </a:prstGeom>
          </p:spPr>
        </p:pic>
        <p:sp>
          <p:nvSpPr>
            <p:cNvPr id="92" name="Text 9">
              <a:extLst>
                <a:ext uri="{FF2B5EF4-FFF2-40B4-BE49-F238E27FC236}">
                  <a16:creationId xmlns:a16="http://schemas.microsoft.com/office/drawing/2014/main" id="{355FD87C-82A2-6C32-0049-E6EC8DCF3AD2}"/>
                </a:ext>
              </a:extLst>
            </p:cNvPr>
            <p:cNvSpPr/>
            <p:nvPr/>
          </p:nvSpPr>
          <p:spPr>
            <a:xfrm>
              <a:off x="7776924" y="5969556"/>
              <a:ext cx="174427" cy="45350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ts val="3550"/>
                </a:lnSpc>
                <a:buNone/>
              </a:pPr>
              <a:r>
                <a:rPr lang="en-US" sz="2200" b="1" kern="0" spc="-67" dirty="0">
                  <a:solidFill>
                    <a:schemeClr val="bg1"/>
                  </a:solidFill>
                  <a:latin typeface="Poppins" panose="00000500000000000000" pitchFamily="2" charset="0"/>
                  <a:ea typeface="Inter Bold" pitchFamily="34" charset="-122"/>
                  <a:cs typeface="Poppins" panose="00000500000000000000" pitchFamily="2" charset="0"/>
                </a:rPr>
                <a:t>3</a:t>
              </a:r>
              <a:endParaRPr lang="en-US" sz="2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6B1E39F7-7F33-5FB6-0040-5CAD36563297}"/>
              </a:ext>
            </a:extLst>
          </p:cNvPr>
          <p:cNvSpPr/>
          <p:nvPr/>
        </p:nvSpPr>
        <p:spPr>
          <a:xfrm>
            <a:off x="12743411" y="7689273"/>
            <a:ext cx="1828800" cy="473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6E5E14-2A2E-80A9-5E68-950B7AC2E3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265" y="-5220175"/>
            <a:ext cx="2539538" cy="935619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BD9D813-6FFD-FDA0-ED54-AE72BC31F3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74354" y="-7978730"/>
            <a:ext cx="2961449" cy="5651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7A9E32B-41B0-D4E6-9DBA-9DD30DCADEA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8079" y="-5635262"/>
            <a:ext cx="1765795" cy="17657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5684C1E-BC12-25E4-F190-40E1FF21377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30225" y="-8615447"/>
            <a:ext cx="2081504" cy="208150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B7C5C00-C0E0-C71F-D6F0-5968AE454007}"/>
              </a:ext>
            </a:extLst>
          </p:cNvPr>
          <p:cNvSpPr/>
          <p:nvPr/>
        </p:nvSpPr>
        <p:spPr>
          <a:xfrm>
            <a:off x="1219199" y="-9947931"/>
            <a:ext cx="5735701" cy="736270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BF7EC26-CE70-BF9D-8C9E-C1EA7CEADE48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3253" r="3253"/>
          <a:stretch/>
        </p:blipFill>
        <p:spPr>
          <a:xfrm>
            <a:off x="9942507" y="-8572000"/>
            <a:ext cx="3015893" cy="6272551"/>
          </a:xfrm>
          <a:prstGeom prst="roundRect">
            <a:avLst>
              <a:gd name="adj" fmla="val 19024"/>
            </a:avLst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7AFB4A4-961F-A78D-CB8C-5E429A097EAD}"/>
              </a:ext>
            </a:extLst>
          </p:cNvPr>
          <p:cNvSpPr txBox="1"/>
          <p:nvPr/>
        </p:nvSpPr>
        <p:spPr>
          <a:xfrm>
            <a:off x="10367732" y="-9839742"/>
            <a:ext cx="26949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b="1" spc="600" dirty="0">
                <a:latin typeface="Poppins" panose="00000500000000000000" pitchFamily="2" charset="0"/>
                <a:cs typeface="Poppins" panose="00000500000000000000" pitchFamily="2" charset="0"/>
              </a:rPr>
              <a:t>LEEZ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183DC0-EA46-BEA8-BFB0-B8D4D8D8E8BD}"/>
              </a:ext>
            </a:extLst>
          </p:cNvPr>
          <p:cNvSpPr txBox="1"/>
          <p:nvPr/>
        </p:nvSpPr>
        <p:spPr>
          <a:xfrm>
            <a:off x="10430475" y="-9087222"/>
            <a:ext cx="223271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latin typeface="Poppins" panose="00000500000000000000" pitchFamily="2" charset="0"/>
                <a:cs typeface="Poppins" panose="00000500000000000000" pitchFamily="2" charset="0"/>
              </a:rPr>
              <a:t>One stop</a:t>
            </a:r>
            <a:r>
              <a:rPr lang="en-GB" sz="1000" dirty="0">
                <a:latin typeface="Poppins" panose="00000500000000000000" pitchFamily="2" charset="0"/>
                <a:cs typeface="Poppins" panose="00000500000000000000" pitchFamily="2" charset="0"/>
              </a:rPr>
              <a:t> Rental Marketplace</a:t>
            </a:r>
          </a:p>
        </p:txBody>
      </p:sp>
      <p:sp>
        <p:nvSpPr>
          <p:cNvPr id="18" name="Text 0">
            <a:extLst>
              <a:ext uri="{FF2B5EF4-FFF2-40B4-BE49-F238E27FC236}">
                <a16:creationId xmlns:a16="http://schemas.microsoft.com/office/drawing/2014/main" id="{92063F3E-A944-FC10-C897-622324552860}"/>
              </a:ext>
            </a:extLst>
          </p:cNvPr>
          <p:cNvSpPr/>
          <p:nvPr/>
        </p:nvSpPr>
        <p:spPr>
          <a:xfrm>
            <a:off x="793790" y="-924139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000000"/>
                </a:solidFill>
                <a:latin typeface="Poppins" panose="00000500000000000000" pitchFamily="2" charset="0"/>
                <a:ea typeface="Inter Bold" pitchFamily="34" charset="-122"/>
                <a:cs typeface="Poppins" panose="00000500000000000000" pitchFamily="2" charset="0"/>
              </a:rPr>
              <a:t>Revenue Streams</a:t>
            </a:r>
            <a:endParaRPr lang="en-US" sz="44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6142D2E-E7DA-46FF-48FD-D701442F103E}"/>
              </a:ext>
            </a:extLst>
          </p:cNvPr>
          <p:cNvGrpSpPr/>
          <p:nvPr/>
        </p:nvGrpSpPr>
        <p:grpSpPr>
          <a:xfrm>
            <a:off x="793790" y="-7937305"/>
            <a:ext cx="7556421" cy="853321"/>
            <a:chOff x="793790" y="2337197"/>
            <a:chExt cx="7556421" cy="853321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3382AB4-1E14-5641-DAF0-EF7AFF5DCF0B}"/>
                </a:ext>
              </a:extLst>
            </p:cNvPr>
            <p:cNvGrpSpPr/>
            <p:nvPr/>
          </p:nvGrpSpPr>
          <p:grpSpPr>
            <a:xfrm>
              <a:off x="793790" y="2337197"/>
              <a:ext cx="510302" cy="510302"/>
              <a:chOff x="793790" y="2337197"/>
              <a:chExt cx="510302" cy="510302"/>
            </a:xfrm>
          </p:grpSpPr>
          <p:sp>
            <p:nvSpPr>
              <p:cNvPr id="23" name="Shape 1">
                <a:extLst>
                  <a:ext uri="{FF2B5EF4-FFF2-40B4-BE49-F238E27FC236}">
                    <a16:creationId xmlns:a16="http://schemas.microsoft.com/office/drawing/2014/main" id="{EC11335A-4593-35AA-5F24-DFD60BA19A73}"/>
                  </a:ext>
                </a:extLst>
              </p:cNvPr>
              <p:cNvSpPr/>
              <p:nvPr/>
            </p:nvSpPr>
            <p:spPr>
              <a:xfrm>
                <a:off x="793790" y="2337197"/>
                <a:ext cx="510302" cy="510302"/>
              </a:xfrm>
              <a:prstGeom prst="roundRect">
                <a:avLst>
                  <a:gd name="adj" fmla="val 18669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 w="7620">
                <a:solidFill>
                  <a:srgbClr val="C0C1D7"/>
                </a:solidFill>
                <a:prstDash val="solid"/>
              </a:ln>
            </p:spPr>
          </p:sp>
          <p:sp>
            <p:nvSpPr>
              <p:cNvPr id="24" name="Text 2">
                <a:extLst>
                  <a:ext uri="{FF2B5EF4-FFF2-40B4-BE49-F238E27FC236}">
                    <a16:creationId xmlns:a16="http://schemas.microsoft.com/office/drawing/2014/main" id="{EC0C0512-F00A-C611-F581-0691D0441C12}"/>
                  </a:ext>
                </a:extLst>
              </p:cNvPr>
              <p:cNvSpPr/>
              <p:nvPr/>
            </p:nvSpPr>
            <p:spPr>
              <a:xfrm>
                <a:off x="980599" y="2422208"/>
                <a:ext cx="136565" cy="34028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650"/>
                  </a:lnSpc>
                  <a:buNone/>
                </a:pPr>
                <a:r>
                  <a:rPr lang="en-US" sz="2650" b="1" kern="0" spc="-80" dirty="0">
                    <a:solidFill>
                      <a:schemeClr val="bg1"/>
                    </a:solidFill>
                    <a:latin typeface="Inter Bold" pitchFamily="34" charset="0"/>
                    <a:ea typeface="Inter Bold" pitchFamily="34" charset="-122"/>
                    <a:cs typeface="Inter Bold" pitchFamily="34" charset="-120"/>
                  </a:rPr>
                  <a:t>1</a:t>
                </a:r>
                <a:endParaRPr lang="en-US" sz="265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1" name="Text 3">
              <a:extLst>
                <a:ext uri="{FF2B5EF4-FFF2-40B4-BE49-F238E27FC236}">
                  <a16:creationId xmlns:a16="http://schemas.microsoft.com/office/drawing/2014/main" id="{EAF5F1E0-3017-0621-E957-EE36200C401A}"/>
                </a:ext>
              </a:extLst>
            </p:cNvPr>
            <p:cNvSpPr/>
            <p:nvPr/>
          </p:nvSpPr>
          <p:spPr>
            <a:xfrm>
              <a:off x="1530906" y="2337197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750"/>
                </a:lnSpc>
                <a:buNone/>
              </a:pPr>
              <a:r>
                <a:rPr lang="en-US" sz="2200" b="1" kern="0" spc="-67" dirty="0">
                  <a:solidFill>
                    <a:srgbClr val="272525"/>
                  </a:solidFill>
                  <a:latin typeface="Poppins" panose="00000500000000000000" pitchFamily="2" charset="0"/>
                  <a:ea typeface="Inter Bold" pitchFamily="34" charset="-122"/>
                  <a:cs typeface="Poppins" panose="00000500000000000000" pitchFamily="2" charset="0"/>
                </a:rPr>
                <a:t>Listing Fees</a:t>
              </a:r>
              <a:endParaRPr lang="en-US" sz="22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2" name="Text 4">
              <a:extLst>
                <a:ext uri="{FF2B5EF4-FFF2-40B4-BE49-F238E27FC236}">
                  <a16:creationId xmlns:a16="http://schemas.microsoft.com/office/drawing/2014/main" id="{E925169B-90A9-FDEC-4668-57A1050FBD0F}"/>
                </a:ext>
              </a:extLst>
            </p:cNvPr>
            <p:cNvSpPr/>
            <p:nvPr/>
          </p:nvSpPr>
          <p:spPr>
            <a:xfrm>
              <a:off x="1530906" y="2827615"/>
              <a:ext cx="6819305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850"/>
                </a:lnSpc>
                <a:buNone/>
              </a:pPr>
              <a:r>
                <a:rPr lang="en-US" sz="1750" kern="0" spc="-36" dirty="0">
                  <a:solidFill>
                    <a:srgbClr val="272525"/>
                  </a:solidFill>
                  <a:latin typeface="Poppins" panose="00000500000000000000" pitchFamily="2" charset="0"/>
                  <a:ea typeface="Inter" pitchFamily="34" charset="-122"/>
                  <a:cs typeface="Poppins" panose="00000500000000000000" pitchFamily="2" charset="0"/>
                </a:rPr>
                <a:t>Vendors pay to showcase products.</a:t>
              </a:r>
              <a:endParaRPr lang="en-US" sz="1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7FD2264-6AC1-2717-8BE3-2FEF154999FD}"/>
              </a:ext>
            </a:extLst>
          </p:cNvPr>
          <p:cNvGrpSpPr/>
          <p:nvPr/>
        </p:nvGrpSpPr>
        <p:grpSpPr>
          <a:xfrm>
            <a:off x="793790" y="-6602019"/>
            <a:ext cx="7556421" cy="853321"/>
            <a:chOff x="793790" y="3672483"/>
            <a:chExt cx="7556421" cy="853321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90A1236-18B5-F897-6232-559754BAD666}"/>
                </a:ext>
              </a:extLst>
            </p:cNvPr>
            <p:cNvGrpSpPr/>
            <p:nvPr/>
          </p:nvGrpSpPr>
          <p:grpSpPr>
            <a:xfrm>
              <a:off x="793790" y="3672483"/>
              <a:ext cx="510302" cy="510302"/>
              <a:chOff x="793790" y="3672483"/>
              <a:chExt cx="510302" cy="510302"/>
            </a:xfrm>
          </p:grpSpPr>
          <p:sp>
            <p:nvSpPr>
              <p:cNvPr id="29" name="Shape 5">
                <a:extLst>
                  <a:ext uri="{FF2B5EF4-FFF2-40B4-BE49-F238E27FC236}">
                    <a16:creationId xmlns:a16="http://schemas.microsoft.com/office/drawing/2014/main" id="{5EE772B9-D716-A60E-3109-8DA591A1B44E}"/>
                  </a:ext>
                </a:extLst>
              </p:cNvPr>
              <p:cNvSpPr/>
              <p:nvPr/>
            </p:nvSpPr>
            <p:spPr>
              <a:xfrm>
                <a:off x="793790" y="3672483"/>
                <a:ext cx="510302" cy="510302"/>
              </a:xfrm>
              <a:prstGeom prst="roundRect">
                <a:avLst>
                  <a:gd name="adj" fmla="val 18669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 w="7620">
                <a:solidFill>
                  <a:srgbClr val="C0C1D7"/>
                </a:solidFill>
                <a:prstDash val="solid"/>
              </a:ln>
            </p:spPr>
          </p:sp>
          <p:sp>
            <p:nvSpPr>
              <p:cNvPr id="30" name="Text 6">
                <a:extLst>
                  <a:ext uri="{FF2B5EF4-FFF2-40B4-BE49-F238E27FC236}">
                    <a16:creationId xmlns:a16="http://schemas.microsoft.com/office/drawing/2014/main" id="{EDB0B431-9F5A-4D82-4EED-F79E0AD00A5F}"/>
                  </a:ext>
                </a:extLst>
              </p:cNvPr>
              <p:cNvSpPr/>
              <p:nvPr/>
            </p:nvSpPr>
            <p:spPr>
              <a:xfrm>
                <a:off x="946904" y="3757493"/>
                <a:ext cx="203954" cy="34028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650"/>
                  </a:lnSpc>
                  <a:buNone/>
                </a:pPr>
                <a:r>
                  <a:rPr lang="en-US" sz="2650" b="1" kern="0" spc="-80" dirty="0">
                    <a:solidFill>
                      <a:schemeClr val="bg1"/>
                    </a:solidFill>
                    <a:latin typeface="Inter Bold" pitchFamily="34" charset="0"/>
                    <a:ea typeface="Inter Bold" pitchFamily="34" charset="-122"/>
                    <a:cs typeface="Inter Bold" pitchFamily="34" charset="-120"/>
                  </a:rPr>
                  <a:t>2</a:t>
                </a:r>
                <a:endParaRPr lang="en-US" sz="265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7" name="Text 7">
              <a:extLst>
                <a:ext uri="{FF2B5EF4-FFF2-40B4-BE49-F238E27FC236}">
                  <a16:creationId xmlns:a16="http://schemas.microsoft.com/office/drawing/2014/main" id="{2718A091-5715-7A49-17FF-D6FAE4248851}"/>
                </a:ext>
              </a:extLst>
            </p:cNvPr>
            <p:cNvSpPr/>
            <p:nvPr/>
          </p:nvSpPr>
          <p:spPr>
            <a:xfrm>
              <a:off x="1530906" y="3672483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750"/>
                </a:lnSpc>
                <a:buNone/>
              </a:pPr>
              <a:r>
                <a:rPr lang="en-US" sz="2200" b="1" kern="0" spc="-67" dirty="0">
                  <a:solidFill>
                    <a:srgbClr val="272525"/>
                  </a:solidFill>
                  <a:latin typeface="Poppins" panose="00000500000000000000" pitchFamily="2" charset="0"/>
                  <a:ea typeface="Inter Bold" pitchFamily="34" charset="-122"/>
                  <a:cs typeface="Poppins" panose="00000500000000000000" pitchFamily="2" charset="0"/>
                </a:rPr>
                <a:t>Featured Listings</a:t>
              </a:r>
              <a:endParaRPr lang="en-US" sz="22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8" name="Text 8">
              <a:extLst>
                <a:ext uri="{FF2B5EF4-FFF2-40B4-BE49-F238E27FC236}">
                  <a16:creationId xmlns:a16="http://schemas.microsoft.com/office/drawing/2014/main" id="{E68EC407-099D-7982-DEE0-EC02CFACF59D}"/>
                </a:ext>
              </a:extLst>
            </p:cNvPr>
            <p:cNvSpPr/>
            <p:nvPr/>
          </p:nvSpPr>
          <p:spPr>
            <a:xfrm>
              <a:off x="1530906" y="4162901"/>
              <a:ext cx="6819305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850"/>
                </a:lnSpc>
                <a:buNone/>
              </a:pPr>
              <a:r>
                <a:rPr lang="en-US" sz="1750" kern="0" spc="-36" dirty="0">
                  <a:solidFill>
                    <a:srgbClr val="272525"/>
                  </a:solidFill>
                  <a:latin typeface="Poppins" panose="00000500000000000000" pitchFamily="2" charset="0"/>
                  <a:ea typeface="Inter" pitchFamily="34" charset="-122"/>
                  <a:cs typeface="Poppins" panose="00000500000000000000" pitchFamily="2" charset="0"/>
                </a:rPr>
                <a:t>Top placements for vendors.</a:t>
              </a:r>
              <a:endParaRPr lang="en-US" sz="1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9B1F109-6EA9-2AEB-C2BC-0EDE824C46AE}"/>
              </a:ext>
            </a:extLst>
          </p:cNvPr>
          <p:cNvGrpSpPr/>
          <p:nvPr/>
        </p:nvGrpSpPr>
        <p:grpSpPr>
          <a:xfrm>
            <a:off x="793790" y="-5266733"/>
            <a:ext cx="7556421" cy="853321"/>
            <a:chOff x="793790" y="5007769"/>
            <a:chExt cx="7556421" cy="853321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16FF6D32-EE43-2BEB-D705-F97F51646680}"/>
                </a:ext>
              </a:extLst>
            </p:cNvPr>
            <p:cNvGrpSpPr/>
            <p:nvPr/>
          </p:nvGrpSpPr>
          <p:grpSpPr>
            <a:xfrm>
              <a:off x="793790" y="5007769"/>
              <a:ext cx="510302" cy="510302"/>
              <a:chOff x="793790" y="5007769"/>
              <a:chExt cx="510302" cy="510302"/>
            </a:xfrm>
          </p:grpSpPr>
          <p:sp>
            <p:nvSpPr>
              <p:cNvPr id="35" name="Shape 9">
                <a:extLst>
                  <a:ext uri="{FF2B5EF4-FFF2-40B4-BE49-F238E27FC236}">
                    <a16:creationId xmlns:a16="http://schemas.microsoft.com/office/drawing/2014/main" id="{B67422E2-75B9-5F07-D2DF-CC51070F0C55}"/>
                  </a:ext>
                </a:extLst>
              </p:cNvPr>
              <p:cNvSpPr/>
              <p:nvPr/>
            </p:nvSpPr>
            <p:spPr>
              <a:xfrm>
                <a:off x="793790" y="5007769"/>
                <a:ext cx="510302" cy="510302"/>
              </a:xfrm>
              <a:prstGeom prst="roundRect">
                <a:avLst>
                  <a:gd name="adj" fmla="val 18669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 w="7620">
                <a:solidFill>
                  <a:srgbClr val="C0C1D7"/>
                </a:solidFill>
                <a:prstDash val="solid"/>
              </a:ln>
            </p:spPr>
          </p:sp>
          <p:sp>
            <p:nvSpPr>
              <p:cNvPr id="36" name="Text 10">
                <a:extLst>
                  <a:ext uri="{FF2B5EF4-FFF2-40B4-BE49-F238E27FC236}">
                    <a16:creationId xmlns:a16="http://schemas.microsoft.com/office/drawing/2014/main" id="{51833551-D76D-25CE-9809-FA6DE354C50C}"/>
                  </a:ext>
                </a:extLst>
              </p:cNvPr>
              <p:cNvSpPr/>
              <p:nvPr/>
            </p:nvSpPr>
            <p:spPr>
              <a:xfrm>
                <a:off x="944166" y="5092779"/>
                <a:ext cx="209431" cy="34028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650"/>
                  </a:lnSpc>
                  <a:buNone/>
                </a:pPr>
                <a:r>
                  <a:rPr lang="en-US" sz="2650" b="1" kern="0" spc="-80" dirty="0">
                    <a:solidFill>
                      <a:schemeClr val="bg1"/>
                    </a:solidFill>
                    <a:latin typeface="Inter Bold" pitchFamily="34" charset="0"/>
                    <a:ea typeface="Inter Bold" pitchFamily="34" charset="-122"/>
                    <a:cs typeface="Inter Bold" pitchFamily="34" charset="-120"/>
                  </a:rPr>
                  <a:t>3</a:t>
                </a:r>
                <a:endParaRPr lang="en-US" sz="265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3" name="Text 11">
              <a:extLst>
                <a:ext uri="{FF2B5EF4-FFF2-40B4-BE49-F238E27FC236}">
                  <a16:creationId xmlns:a16="http://schemas.microsoft.com/office/drawing/2014/main" id="{647B7474-7C86-702C-668E-C1D3337A9855}"/>
                </a:ext>
              </a:extLst>
            </p:cNvPr>
            <p:cNvSpPr/>
            <p:nvPr/>
          </p:nvSpPr>
          <p:spPr>
            <a:xfrm>
              <a:off x="1530906" y="5007769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750"/>
                </a:lnSpc>
                <a:buNone/>
              </a:pPr>
              <a:r>
                <a:rPr lang="en-US" sz="2200" b="1" kern="0" spc="-67" dirty="0">
                  <a:solidFill>
                    <a:srgbClr val="272525"/>
                  </a:solidFill>
                  <a:latin typeface="Poppins" panose="00000500000000000000" pitchFamily="2" charset="0"/>
                  <a:ea typeface="Inter Bold" pitchFamily="34" charset="-122"/>
                  <a:cs typeface="Poppins" panose="00000500000000000000" pitchFamily="2" charset="0"/>
                </a:rPr>
                <a:t>Marketing</a:t>
              </a:r>
              <a:endParaRPr lang="en-US" sz="22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4" name="Text 12">
              <a:extLst>
                <a:ext uri="{FF2B5EF4-FFF2-40B4-BE49-F238E27FC236}">
                  <a16:creationId xmlns:a16="http://schemas.microsoft.com/office/drawing/2014/main" id="{2156480D-1DAC-13C2-178B-6312B116CD00}"/>
                </a:ext>
              </a:extLst>
            </p:cNvPr>
            <p:cNvSpPr/>
            <p:nvPr/>
          </p:nvSpPr>
          <p:spPr>
            <a:xfrm>
              <a:off x="1530906" y="5498187"/>
              <a:ext cx="6819305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850"/>
                </a:lnSpc>
                <a:buNone/>
              </a:pPr>
              <a:r>
                <a:rPr lang="en-US" sz="1750" kern="0" spc="-36" dirty="0">
                  <a:solidFill>
                    <a:srgbClr val="272525"/>
                  </a:solidFill>
                  <a:latin typeface="Poppins" panose="00000500000000000000" pitchFamily="2" charset="0"/>
                  <a:ea typeface="Inter" pitchFamily="34" charset="-122"/>
                  <a:cs typeface="Poppins" panose="00000500000000000000" pitchFamily="2" charset="0"/>
                </a:rPr>
                <a:t>Targeted vendor ads.</a:t>
              </a:r>
              <a:endParaRPr lang="en-US" sz="1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E556C3E-D22F-1274-C13C-40DF2743B70B}"/>
              </a:ext>
            </a:extLst>
          </p:cNvPr>
          <p:cNvGrpSpPr/>
          <p:nvPr/>
        </p:nvGrpSpPr>
        <p:grpSpPr>
          <a:xfrm>
            <a:off x="793790" y="-3931447"/>
            <a:ext cx="7556421" cy="853321"/>
            <a:chOff x="793790" y="6343055"/>
            <a:chExt cx="7556421" cy="853321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096825DF-D859-05A9-C58F-653F6E825D8A}"/>
                </a:ext>
              </a:extLst>
            </p:cNvPr>
            <p:cNvGrpSpPr/>
            <p:nvPr/>
          </p:nvGrpSpPr>
          <p:grpSpPr>
            <a:xfrm>
              <a:off x="793790" y="6343055"/>
              <a:ext cx="510302" cy="510302"/>
              <a:chOff x="793790" y="6343055"/>
              <a:chExt cx="510302" cy="510302"/>
            </a:xfrm>
          </p:grpSpPr>
          <p:sp>
            <p:nvSpPr>
              <p:cNvPr id="41" name="Shape 13">
                <a:extLst>
                  <a:ext uri="{FF2B5EF4-FFF2-40B4-BE49-F238E27FC236}">
                    <a16:creationId xmlns:a16="http://schemas.microsoft.com/office/drawing/2014/main" id="{FE536567-E592-1040-FCE7-7DB7F06FDF65}"/>
                  </a:ext>
                </a:extLst>
              </p:cNvPr>
              <p:cNvSpPr/>
              <p:nvPr/>
            </p:nvSpPr>
            <p:spPr>
              <a:xfrm>
                <a:off x="793790" y="6343055"/>
                <a:ext cx="510302" cy="510302"/>
              </a:xfrm>
              <a:prstGeom prst="roundRect">
                <a:avLst>
                  <a:gd name="adj" fmla="val 18669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 w="7620">
                <a:solidFill>
                  <a:srgbClr val="C0C1D7"/>
                </a:solidFill>
                <a:prstDash val="solid"/>
              </a:ln>
            </p:spPr>
          </p:sp>
          <p:sp>
            <p:nvSpPr>
              <p:cNvPr id="42" name="Text 14">
                <a:extLst>
                  <a:ext uri="{FF2B5EF4-FFF2-40B4-BE49-F238E27FC236}">
                    <a16:creationId xmlns:a16="http://schemas.microsoft.com/office/drawing/2014/main" id="{4BFBA9B0-4517-5126-6E64-431B7D540346}"/>
                  </a:ext>
                </a:extLst>
              </p:cNvPr>
              <p:cNvSpPr/>
              <p:nvPr/>
            </p:nvSpPr>
            <p:spPr>
              <a:xfrm>
                <a:off x="938927" y="6428065"/>
                <a:ext cx="219908" cy="34028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650"/>
                  </a:lnSpc>
                  <a:buNone/>
                </a:pPr>
                <a:r>
                  <a:rPr lang="en-US" sz="2650" b="1" kern="0" spc="-80" dirty="0">
                    <a:solidFill>
                      <a:schemeClr val="bg1"/>
                    </a:solidFill>
                    <a:latin typeface="Inter Bold" pitchFamily="34" charset="0"/>
                    <a:ea typeface="Inter Bold" pitchFamily="34" charset="-122"/>
                    <a:cs typeface="Inter Bold" pitchFamily="34" charset="-120"/>
                  </a:rPr>
                  <a:t>4</a:t>
                </a:r>
                <a:endParaRPr lang="en-US" sz="265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9" name="Text 15">
              <a:extLst>
                <a:ext uri="{FF2B5EF4-FFF2-40B4-BE49-F238E27FC236}">
                  <a16:creationId xmlns:a16="http://schemas.microsoft.com/office/drawing/2014/main" id="{B07B149F-4561-3156-0F19-EEA76EDBD1D2}"/>
                </a:ext>
              </a:extLst>
            </p:cNvPr>
            <p:cNvSpPr/>
            <p:nvPr/>
          </p:nvSpPr>
          <p:spPr>
            <a:xfrm>
              <a:off x="1530906" y="6343055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750"/>
                </a:lnSpc>
                <a:buNone/>
              </a:pPr>
              <a:r>
                <a:rPr lang="en-US" sz="2200" b="1" kern="0" spc="-67" dirty="0">
                  <a:solidFill>
                    <a:srgbClr val="272525"/>
                  </a:solidFill>
                  <a:latin typeface="Poppins" panose="00000500000000000000" pitchFamily="2" charset="0"/>
                  <a:ea typeface="Inter Bold" pitchFamily="34" charset="-122"/>
                  <a:cs typeface="Poppins" panose="00000500000000000000" pitchFamily="2" charset="0"/>
                </a:rPr>
                <a:t>Data Insights</a:t>
              </a:r>
              <a:endParaRPr lang="en-US" sz="22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0" name="Text 16">
              <a:extLst>
                <a:ext uri="{FF2B5EF4-FFF2-40B4-BE49-F238E27FC236}">
                  <a16:creationId xmlns:a16="http://schemas.microsoft.com/office/drawing/2014/main" id="{D020D84A-B6F0-142E-6FD7-137F0509C0F8}"/>
                </a:ext>
              </a:extLst>
            </p:cNvPr>
            <p:cNvSpPr/>
            <p:nvPr/>
          </p:nvSpPr>
          <p:spPr>
            <a:xfrm>
              <a:off x="1530906" y="6833473"/>
              <a:ext cx="6819305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850"/>
                </a:lnSpc>
                <a:buNone/>
              </a:pPr>
              <a:r>
                <a:rPr lang="en-US" sz="1750" kern="0" spc="-36" dirty="0">
                  <a:solidFill>
                    <a:srgbClr val="272525"/>
                  </a:solidFill>
                  <a:latin typeface="Poppins" panose="00000500000000000000" pitchFamily="2" charset="0"/>
                  <a:ea typeface="Inter" pitchFamily="34" charset="-122"/>
                  <a:cs typeface="Poppins" panose="00000500000000000000" pitchFamily="2" charset="0"/>
                </a:rPr>
                <a:t>Monetizing user behavior data.</a:t>
              </a:r>
              <a:endParaRPr lang="en-US" sz="1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43" name="Text 3">
            <a:extLst>
              <a:ext uri="{FF2B5EF4-FFF2-40B4-BE49-F238E27FC236}">
                <a16:creationId xmlns:a16="http://schemas.microsoft.com/office/drawing/2014/main" id="{65EC4DA3-BDF9-F70F-250C-536643D29C8A}"/>
              </a:ext>
            </a:extLst>
          </p:cNvPr>
          <p:cNvSpPr/>
          <p:nvPr/>
        </p:nvSpPr>
        <p:spPr>
          <a:xfrm>
            <a:off x="14529360" y="5817850"/>
            <a:ext cx="16126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endParaRPr lang="en-US" sz="22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9" name="Text 0">
            <a:extLst>
              <a:ext uri="{FF2B5EF4-FFF2-40B4-BE49-F238E27FC236}">
                <a16:creationId xmlns:a16="http://schemas.microsoft.com/office/drawing/2014/main" id="{B430100A-C548-4097-8572-39D16A9F0B47}"/>
              </a:ext>
            </a:extLst>
          </p:cNvPr>
          <p:cNvSpPr/>
          <p:nvPr/>
        </p:nvSpPr>
        <p:spPr>
          <a:xfrm>
            <a:off x="5116962" y="-6954936"/>
            <a:ext cx="4306498" cy="653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000000"/>
                </a:solidFill>
                <a:latin typeface="Poppins" panose="00000500000000000000" pitchFamily="2" charset="0"/>
                <a:ea typeface="Inter Bold" pitchFamily="34" charset="-122"/>
                <a:cs typeface="Poppins" panose="00000500000000000000" pitchFamily="2" charset="0"/>
              </a:rPr>
              <a:t>Business Model </a:t>
            </a:r>
            <a:endParaRPr lang="en-US" sz="44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8" name="Text 0">
            <a:extLst>
              <a:ext uri="{FF2B5EF4-FFF2-40B4-BE49-F238E27FC236}">
                <a16:creationId xmlns:a16="http://schemas.microsoft.com/office/drawing/2014/main" id="{EDFA91D5-0C4C-EC75-A160-105A85AB7CFD}"/>
              </a:ext>
            </a:extLst>
          </p:cNvPr>
          <p:cNvSpPr/>
          <p:nvPr/>
        </p:nvSpPr>
        <p:spPr>
          <a:xfrm>
            <a:off x="5916731" y="-3141610"/>
            <a:ext cx="27969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2800" b="1" kern="0" spc="-134" dirty="0">
                <a:solidFill>
                  <a:srgbClr val="000000"/>
                </a:solidFill>
                <a:latin typeface="Poppins" panose="00000500000000000000" pitchFamily="2" charset="0"/>
                <a:ea typeface="Inter Bold" pitchFamily="34" charset="-122"/>
                <a:cs typeface="Poppins" panose="00000500000000000000" pitchFamily="2" charset="0"/>
              </a:rPr>
              <a:t>Market Analysis</a:t>
            </a: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79" name="Table 78">
            <a:extLst>
              <a:ext uri="{FF2B5EF4-FFF2-40B4-BE49-F238E27FC236}">
                <a16:creationId xmlns:a16="http://schemas.microsoft.com/office/drawing/2014/main" id="{A3166AF6-9E00-2839-9317-1E1EBB259F81}"/>
              </a:ext>
            </a:extLst>
          </p:cNvPr>
          <p:cNvGraphicFramePr>
            <a:graphicFrameLocks noGrp="1"/>
          </p:cNvGraphicFramePr>
          <p:nvPr/>
        </p:nvGraphicFramePr>
        <p:xfrm>
          <a:off x="3228984" y="13912632"/>
          <a:ext cx="7686178" cy="5177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3089">
                  <a:extLst>
                    <a:ext uri="{9D8B030D-6E8A-4147-A177-3AD203B41FA5}">
                      <a16:colId xmlns:a16="http://schemas.microsoft.com/office/drawing/2014/main" val="982562935"/>
                    </a:ext>
                  </a:extLst>
                </a:gridCol>
                <a:gridCol w="3843089">
                  <a:extLst>
                    <a:ext uri="{9D8B030D-6E8A-4147-A177-3AD203B41FA5}">
                      <a16:colId xmlns:a16="http://schemas.microsoft.com/office/drawing/2014/main" val="4245441938"/>
                    </a:ext>
                  </a:extLst>
                </a:gridCol>
              </a:tblGrid>
              <a:tr h="1294342">
                <a:tc>
                  <a:txBody>
                    <a:bodyPr/>
                    <a:lstStyle/>
                    <a:p>
                      <a:pPr algn="ctr"/>
                      <a:endParaRPr lang="en-GB" sz="3600" dirty="0">
                        <a:solidFill>
                          <a:sysClr val="windowText" lastClr="000000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300923" marR="300923" marT="150462" marB="150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Turnover</a:t>
                      </a:r>
                    </a:p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(Approx.)</a:t>
                      </a:r>
                    </a:p>
                  </a:txBody>
                  <a:tcPr marL="300923" marR="300923" marT="150462" marB="150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107559"/>
                  </a:ext>
                </a:extLst>
              </a:tr>
              <a:tr h="1294342">
                <a:tc>
                  <a:txBody>
                    <a:bodyPr/>
                    <a:lstStyle/>
                    <a:p>
                      <a:endParaRPr lang="en-GB" sz="48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300923" marR="300923" marT="150462" marB="150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269cr</a:t>
                      </a:r>
                    </a:p>
                  </a:txBody>
                  <a:tcPr marL="300923" marR="300923" marT="150462" marB="150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4334011"/>
                  </a:ext>
                </a:extLst>
              </a:tr>
              <a:tr h="1294342">
                <a:tc>
                  <a:txBody>
                    <a:bodyPr/>
                    <a:lstStyle/>
                    <a:p>
                      <a:endParaRPr lang="en-GB" sz="48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300923" marR="300923" marT="150462" marB="150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95cr</a:t>
                      </a:r>
                    </a:p>
                  </a:txBody>
                  <a:tcPr marL="300923" marR="300923" marT="150462" marB="150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2252"/>
                  </a:ext>
                </a:extLst>
              </a:tr>
              <a:tr h="1294342">
                <a:tc>
                  <a:txBody>
                    <a:bodyPr/>
                    <a:lstStyle/>
                    <a:p>
                      <a:endParaRPr lang="en-GB" sz="48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300923" marR="300923" marT="150462" marB="150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193cr</a:t>
                      </a:r>
                    </a:p>
                  </a:txBody>
                  <a:tcPr marL="300923" marR="300923" marT="150462" marB="15046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858733"/>
                  </a:ext>
                </a:extLst>
              </a:tr>
            </a:tbl>
          </a:graphicData>
        </a:graphic>
      </p:graphicFrame>
      <p:sp>
        <p:nvSpPr>
          <p:cNvPr id="55" name="Flowchart: Connector 54">
            <a:extLst>
              <a:ext uri="{FF2B5EF4-FFF2-40B4-BE49-F238E27FC236}">
                <a16:creationId xmlns:a16="http://schemas.microsoft.com/office/drawing/2014/main" id="{FE4EE97B-9641-7F8F-82BA-19354DA91E00}"/>
              </a:ext>
            </a:extLst>
          </p:cNvPr>
          <p:cNvSpPr/>
          <p:nvPr/>
        </p:nvSpPr>
        <p:spPr>
          <a:xfrm>
            <a:off x="-3345582" y="-6421794"/>
            <a:ext cx="22174200" cy="221742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CF04A39-AC4F-0E62-1CE1-2A98FE9FBA36}"/>
              </a:ext>
            </a:extLst>
          </p:cNvPr>
          <p:cNvGrpSpPr/>
          <p:nvPr/>
        </p:nvGrpSpPr>
        <p:grpSpPr>
          <a:xfrm>
            <a:off x="3689723" y="15388456"/>
            <a:ext cx="2758494" cy="3314734"/>
            <a:chOff x="3689723" y="3457727"/>
            <a:chExt cx="2758494" cy="3314734"/>
          </a:xfrm>
        </p:grpSpPr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1B898BD5-CBC3-AE95-84E7-3A4FD634B85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5110" y="3457727"/>
              <a:ext cx="2507721" cy="923897"/>
            </a:xfrm>
            <a:prstGeom prst="rect">
              <a:avLst/>
            </a:prstGeom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ABDF7177-E608-B414-B885-69092C2B61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896679" y="4956150"/>
              <a:ext cx="2311519" cy="508026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D4D38163-3B96-1FEF-F5EF-5D669004D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t="56254" b="16202"/>
            <a:stretch/>
          </p:blipFill>
          <p:spPr>
            <a:xfrm>
              <a:off x="3689723" y="6012680"/>
              <a:ext cx="2758494" cy="759781"/>
            </a:xfrm>
            <a:prstGeom prst="rect">
              <a:avLst/>
            </a:prstGeom>
          </p:spPr>
        </p:pic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03B245DD-B56D-4596-7D95-A3C592E4F1B6}"/>
              </a:ext>
            </a:extLst>
          </p:cNvPr>
          <p:cNvSpPr txBox="1"/>
          <p:nvPr/>
        </p:nvSpPr>
        <p:spPr>
          <a:xfrm>
            <a:off x="3795582" y="14126937"/>
            <a:ext cx="2668798" cy="641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b="1" dirty="0">
                <a:latin typeface="Poppins" panose="00000500000000000000" pitchFamily="2" charset="0"/>
                <a:cs typeface="Poppins" panose="00000500000000000000" pitchFamily="2" charset="0"/>
              </a:rPr>
              <a:t>Company</a:t>
            </a:r>
            <a:endParaRPr lang="en-GB" sz="3600" b="1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6EA1472-B8B1-0A55-8573-5DBE11EDF757}"/>
              </a:ext>
            </a:extLst>
          </p:cNvPr>
          <p:cNvGrpSpPr/>
          <p:nvPr/>
        </p:nvGrpSpPr>
        <p:grpSpPr>
          <a:xfrm>
            <a:off x="1180004" y="1700093"/>
            <a:ext cx="11792007" cy="10878285"/>
            <a:chOff x="951404" y="1700093"/>
            <a:chExt cx="11792007" cy="10878285"/>
          </a:xfrm>
        </p:grpSpPr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0469F1C5-B86E-78F9-866A-6D90BB20B5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3253" r="3253"/>
            <a:stretch/>
          </p:blipFill>
          <p:spPr>
            <a:xfrm>
              <a:off x="951404" y="1700093"/>
              <a:ext cx="5230367" cy="10878285"/>
            </a:xfrm>
            <a:prstGeom prst="roundRect">
              <a:avLst>
                <a:gd name="adj" fmla="val 19024"/>
              </a:avLst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AB21409-A25A-97B6-F91E-29B7DD1161B0}"/>
                </a:ext>
              </a:extLst>
            </p:cNvPr>
            <p:cNvSpPr txBox="1"/>
            <p:nvPr/>
          </p:nvSpPr>
          <p:spPr>
            <a:xfrm>
              <a:off x="8359582" y="4798077"/>
              <a:ext cx="43838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dirty="0">
                  <a:latin typeface="Poppins" panose="00000500000000000000" pitchFamily="2" charset="0"/>
                  <a:cs typeface="Poppins" panose="00000500000000000000" pitchFamily="2" charset="0"/>
                </a:rPr>
                <a:t>One Stop</a:t>
              </a:r>
              <a:r>
                <a:rPr lang="en-GB" sz="2400" dirty="0">
                  <a:latin typeface="Poppins" panose="00000500000000000000" pitchFamily="2" charset="0"/>
                  <a:cs typeface="Poppins" panose="00000500000000000000" pitchFamily="2" charset="0"/>
                </a:rPr>
                <a:t> Rental Marketplace</a:t>
              </a:r>
            </a:p>
          </p:txBody>
        </p:sp>
      </p:grpSp>
      <p:pic>
        <p:nvPicPr>
          <p:cNvPr id="57" name="Picture 56">
            <a:extLst>
              <a:ext uri="{FF2B5EF4-FFF2-40B4-BE49-F238E27FC236}">
                <a16:creationId xmlns:a16="http://schemas.microsoft.com/office/drawing/2014/main" id="{A37F9C3A-1A19-B611-A84C-85699B3B85A9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17347" t="18377" r="16968" b="14913"/>
          <a:stretch/>
        </p:blipFill>
        <p:spPr>
          <a:xfrm>
            <a:off x="7543801" y="2180485"/>
            <a:ext cx="6363796" cy="5160222"/>
          </a:xfrm>
          <a:prstGeom prst="flowChartConnector">
            <a:avLst/>
          </a:prstGeom>
          <a:ln>
            <a:noFill/>
          </a:ln>
        </p:spPr>
      </p:pic>
      <p:sp>
        <p:nvSpPr>
          <p:cNvPr id="94" name="Text 4">
            <a:extLst>
              <a:ext uri="{FF2B5EF4-FFF2-40B4-BE49-F238E27FC236}">
                <a16:creationId xmlns:a16="http://schemas.microsoft.com/office/drawing/2014/main" id="{DF9E21F9-8B82-6C34-D5F1-12EEE33947ED}"/>
              </a:ext>
            </a:extLst>
          </p:cNvPr>
          <p:cNvSpPr/>
          <p:nvPr/>
        </p:nvSpPr>
        <p:spPr>
          <a:xfrm>
            <a:off x="8994244" y="60115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b="1" kern="0" spc="-67" dirty="0">
                <a:solidFill>
                  <a:schemeClr val="bg1"/>
                </a:solidFill>
                <a:latin typeface="Poppins" panose="00000500000000000000" pitchFamily="2" charset="0"/>
                <a:ea typeface="Inter Bold" pitchFamily="34" charset="-122"/>
                <a:cs typeface="Poppins" panose="00000500000000000000" pitchFamily="2" charset="0"/>
              </a:rPr>
              <a:t>ONE STOP RENTAL MARKETPLACE</a:t>
            </a:r>
            <a:endParaRPr lang="en-US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1762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1936</TotalTime>
  <Words>753</Words>
  <Application>Microsoft Office PowerPoint</Application>
  <PresentationFormat>Custom</PresentationFormat>
  <Paragraphs>298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Courier New</vt:lpstr>
      <vt:lpstr>Inter</vt:lpstr>
      <vt:lpstr>Inter Bold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Pavan Duggirala</cp:lastModifiedBy>
  <cp:revision>7</cp:revision>
  <dcterms:created xsi:type="dcterms:W3CDTF">2025-03-04T06:49:31Z</dcterms:created>
  <dcterms:modified xsi:type="dcterms:W3CDTF">2025-03-06T08:30:28Z</dcterms:modified>
</cp:coreProperties>
</file>